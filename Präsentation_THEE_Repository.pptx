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76" r:id="rId7"/>
    <p:sldId id="278" r:id="rId8"/>
    <p:sldId id="260" r:id="rId9"/>
    <p:sldId id="261" r:id="rId10"/>
    <p:sldId id="262" r:id="rId11"/>
    <p:sldId id="263" r:id="rId12"/>
    <p:sldId id="272" r:id="rId13"/>
    <p:sldId id="264" r:id="rId14"/>
    <p:sldId id="269" r:id="rId15"/>
    <p:sldId id="270" r:id="rId16"/>
    <p:sldId id="271" r:id="rId17"/>
    <p:sldId id="265" r:id="rId18"/>
    <p:sldId id="266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4" d="100"/>
          <a:sy n="64" d="100"/>
        </p:scale>
        <p:origin x="74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AB714-A20C-4790-999D-B9A8B91202AC}" type="datetimeFigureOut">
              <a:rPr lang="de-CH" smtClean="0"/>
              <a:t>23.11.2025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B431F3-D15C-4DB4-AB76-F996E1C8539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09696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 </a:t>
            </a:r>
            <a:r>
              <a:rPr lang="de-DE" dirty="0" err="1"/>
              <a:t>everyone</a:t>
            </a:r>
            <a:r>
              <a:rPr lang="de-DE" dirty="0"/>
              <a:t> and </a:t>
            </a:r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joining</a:t>
            </a:r>
            <a:r>
              <a:rPr lang="de-DE" dirty="0"/>
              <a:t> </a:t>
            </a:r>
            <a:r>
              <a:rPr lang="de-DE" dirty="0" err="1"/>
              <a:t>me</a:t>
            </a:r>
            <a:r>
              <a:rPr lang="de-DE" dirty="0"/>
              <a:t> in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…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431F3-D15C-4DB4-AB76-F996E1C8539E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2033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Quick </a:t>
            </a:r>
            <a:r>
              <a:rPr lang="de-DE" dirty="0" err="1"/>
              <a:t>overview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s </a:t>
            </a:r>
            <a:r>
              <a:rPr lang="de-DE" dirty="0" err="1"/>
              <a:t>coming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: </a:t>
            </a:r>
          </a:p>
          <a:p>
            <a:pPr marL="171450" indent="-171450">
              <a:buFontTx/>
              <a:buChar char="-"/>
            </a:pPr>
            <a:r>
              <a:rPr lang="de-DE" dirty="0"/>
              <a:t>First i </a:t>
            </a:r>
            <a:r>
              <a:rPr lang="de-DE" dirty="0" err="1"/>
              <a:t>wanna</a:t>
            </a:r>
            <a:r>
              <a:rPr lang="de-DE" dirty="0"/>
              <a:t>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a </a:t>
            </a:r>
            <a:r>
              <a:rPr lang="de-DE" dirty="0" err="1"/>
              <a:t>graphic</a:t>
            </a:r>
            <a:r>
              <a:rPr lang="de-DE" dirty="0"/>
              <a:t> </a:t>
            </a:r>
            <a:r>
              <a:rPr lang="de-DE" dirty="0" err="1"/>
              <a:t>representation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just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understanding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Then</a:t>
            </a:r>
            <a:r>
              <a:rPr lang="de-DE" dirty="0"/>
              <a:t> i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discuss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framework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and </a:t>
            </a:r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might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interesting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look</a:t>
            </a:r>
            <a:r>
              <a:rPr lang="de-DE" dirty="0"/>
              <a:t> at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will </a:t>
            </a:r>
            <a:r>
              <a:rPr lang="de-DE" dirty="0" err="1"/>
              <a:t>dive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all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maths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and </a:t>
            </a:r>
            <a:r>
              <a:rPr lang="de-DE" dirty="0" err="1"/>
              <a:t>details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we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Look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and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</a:p>
          <a:p>
            <a:pPr marL="171450" indent="-171450">
              <a:buFontTx/>
              <a:buChar char="-"/>
            </a:pPr>
            <a:r>
              <a:rPr lang="de-DE" dirty="0"/>
              <a:t>The </a:t>
            </a:r>
            <a:r>
              <a:rPr lang="de-DE" dirty="0" err="1"/>
              <a:t>discussion</a:t>
            </a:r>
            <a:r>
              <a:rPr lang="de-DE" dirty="0"/>
              <a:t>, </a:t>
            </a:r>
            <a:r>
              <a:rPr lang="de-DE" dirty="0" err="1"/>
              <a:t>outlook</a:t>
            </a:r>
            <a:r>
              <a:rPr lang="de-DE" dirty="0"/>
              <a:t> and </a:t>
            </a:r>
            <a:r>
              <a:rPr lang="de-DE" dirty="0" err="1"/>
              <a:t>limitations</a:t>
            </a:r>
            <a:r>
              <a:rPr lang="de-DE" dirty="0"/>
              <a:t>. 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431F3-D15C-4DB4-AB76-F996E1C8539E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34647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simulate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outcome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generations</a:t>
            </a:r>
            <a:r>
              <a:rPr lang="de-DE" dirty="0"/>
              <a:t> </a:t>
            </a:r>
            <a:r>
              <a:rPr lang="de-DE" dirty="0" err="1"/>
              <a:t>respectively</a:t>
            </a:r>
            <a:r>
              <a:rPr lang="de-DE" dirty="0"/>
              <a:t> and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happens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genotypes</a:t>
            </a:r>
            <a:r>
              <a:rPr lang="de-DE" dirty="0"/>
              <a:t> and </a:t>
            </a:r>
            <a:r>
              <a:rPr lang="de-DE" dirty="0" err="1"/>
              <a:t>overall</a:t>
            </a:r>
            <a:r>
              <a:rPr lang="de-DE" dirty="0"/>
              <a:t> </a:t>
            </a:r>
            <a:r>
              <a:rPr lang="de-DE" dirty="0" err="1"/>
              <a:t>population</a:t>
            </a:r>
            <a:r>
              <a:rPr lang="de-DE" dirty="0"/>
              <a:t> </a:t>
            </a:r>
            <a:r>
              <a:rPr lang="de-DE" dirty="0" err="1"/>
              <a:t>trajectories</a:t>
            </a:r>
            <a:r>
              <a:rPr lang="de-DE" dirty="0"/>
              <a:t> (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simulate</a:t>
            </a:r>
            <a:r>
              <a:rPr lang="de-DE" dirty="0"/>
              <a:t> </a:t>
            </a:r>
            <a:r>
              <a:rPr lang="de-DE" dirty="0" err="1"/>
              <a:t>until</a:t>
            </a:r>
            <a:r>
              <a:rPr lang="de-DE" dirty="0"/>
              <a:t> </a:t>
            </a:r>
            <a:r>
              <a:rPr lang="de-DE" dirty="0" err="1"/>
              <a:t>max_gen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reached</a:t>
            </a:r>
            <a:r>
              <a:rPr lang="de-DE" dirty="0"/>
              <a:t>)</a:t>
            </a:r>
          </a:p>
          <a:p>
            <a:endParaRPr lang="de-DE" dirty="0"/>
          </a:p>
          <a:p>
            <a:r>
              <a:rPr lang="de-DE" dirty="0" err="1"/>
              <a:t>Randomly</a:t>
            </a:r>
            <a:r>
              <a:rPr lang="de-DE" dirty="0"/>
              <a:t> </a:t>
            </a:r>
            <a:r>
              <a:rPr lang="de-DE" dirty="0" err="1"/>
              <a:t>draw</a:t>
            </a:r>
            <a:r>
              <a:rPr lang="de-DE" dirty="0"/>
              <a:t> </a:t>
            </a:r>
            <a:r>
              <a:rPr lang="de-DE" dirty="0" err="1"/>
              <a:t>offspring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pois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generation</a:t>
            </a:r>
            <a:r>
              <a:rPr lang="de-DE" dirty="0"/>
              <a:t> </a:t>
            </a:r>
          </a:p>
          <a:p>
            <a:r>
              <a:rPr lang="de-DE" dirty="0"/>
              <a:t>Ra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frequency</a:t>
            </a:r>
            <a:r>
              <a:rPr lang="de-DE" dirty="0"/>
              <a:t> </a:t>
            </a:r>
            <a:r>
              <a:rPr lang="de-DE" dirty="0" err="1"/>
              <a:t>dependent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respect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K, and at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population</a:t>
            </a:r>
            <a:r>
              <a:rPr lang="de-DE" dirty="0"/>
              <a:t> </a:t>
            </a:r>
            <a:r>
              <a:rPr lang="de-DE" dirty="0" err="1"/>
              <a:t>sizes</a:t>
            </a:r>
            <a:r>
              <a:rPr lang="de-DE" dirty="0"/>
              <a:t> also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allee</a:t>
            </a:r>
            <a:r>
              <a:rPr lang="de-DE" dirty="0"/>
              <a:t> </a:t>
            </a:r>
            <a:r>
              <a:rPr lang="de-DE" dirty="0" err="1"/>
              <a:t>effect</a:t>
            </a:r>
            <a:r>
              <a:rPr lang="de-DE" dirty="0"/>
              <a:t>, </a:t>
            </a:r>
            <a:r>
              <a:rPr lang="de-DE" dirty="0" err="1"/>
              <a:t>meaning</a:t>
            </a:r>
            <a:r>
              <a:rPr lang="de-DE" dirty="0"/>
              <a:t> </a:t>
            </a:r>
            <a:r>
              <a:rPr lang="de-DE" dirty="0" err="1"/>
              <a:t>growth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hindered</a:t>
            </a:r>
            <a:r>
              <a:rPr lang="de-DE" dirty="0"/>
              <a:t> due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factors</a:t>
            </a:r>
            <a:r>
              <a:rPr lang="de-DE" dirty="0"/>
              <a:t> such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fragmentation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just </a:t>
            </a:r>
            <a:r>
              <a:rPr lang="de-DE" dirty="0" err="1"/>
              <a:t>overall</a:t>
            </a:r>
            <a:r>
              <a:rPr lang="de-DE" dirty="0"/>
              <a:t> </a:t>
            </a:r>
            <a:r>
              <a:rPr lang="de-DE" dirty="0" err="1"/>
              <a:t>difficulties</a:t>
            </a:r>
            <a:r>
              <a:rPr lang="de-DE" dirty="0"/>
              <a:t> </a:t>
            </a:r>
            <a:r>
              <a:rPr lang="de-DE" dirty="0" err="1"/>
              <a:t>finding</a:t>
            </a:r>
            <a:r>
              <a:rPr lang="de-DE" dirty="0"/>
              <a:t> </a:t>
            </a:r>
            <a:r>
              <a:rPr lang="de-DE" dirty="0" err="1"/>
              <a:t>mates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/>
              <a:t>So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scenario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non-diploid and non-</a:t>
            </a:r>
            <a:r>
              <a:rPr lang="de-DE" dirty="0" err="1"/>
              <a:t>panmictic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i </a:t>
            </a:r>
            <a:r>
              <a:rPr lang="de-DE" dirty="0" err="1"/>
              <a:t>mentioned</a:t>
            </a:r>
            <a:r>
              <a:rPr lang="de-DE" dirty="0"/>
              <a:t> (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dont</a:t>
            </a:r>
            <a:r>
              <a:rPr lang="de-DE" dirty="0"/>
              <a:t> mix) and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2 </a:t>
            </a:r>
            <a:r>
              <a:rPr lang="de-DE" dirty="0" err="1"/>
              <a:t>types</a:t>
            </a:r>
            <a:r>
              <a:rPr lang="de-DE" dirty="0"/>
              <a:t> </a:t>
            </a:r>
            <a:r>
              <a:rPr lang="de-DE" dirty="0" err="1"/>
              <a:t>present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population</a:t>
            </a:r>
            <a:r>
              <a:rPr lang="de-DE" dirty="0"/>
              <a:t> at all </a:t>
            </a:r>
            <a:r>
              <a:rPr lang="de-DE" dirty="0" err="1"/>
              <a:t>times</a:t>
            </a:r>
            <a:r>
              <a:rPr lang="de-DE" dirty="0"/>
              <a:t>. </a:t>
            </a:r>
          </a:p>
          <a:p>
            <a:endParaRPr lang="de-DE" dirty="0"/>
          </a:p>
          <a:p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modeling</a:t>
            </a:r>
            <a:r>
              <a:rPr lang="de-DE" dirty="0"/>
              <a:t> </a:t>
            </a:r>
            <a:r>
              <a:rPr lang="de-DE" dirty="0" err="1"/>
              <a:t>approach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this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431F3-D15C-4DB4-AB76-F996E1C8539E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23709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in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endParaRPr lang="de-DE" dirty="0"/>
          </a:p>
          <a:p>
            <a:r>
              <a:rPr lang="de-DE" dirty="0"/>
              <a:t>First </a:t>
            </a:r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calculate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offspring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genotype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generation</a:t>
            </a:r>
            <a:r>
              <a:rPr lang="de-DE" dirty="0"/>
              <a:t>. </a:t>
            </a:r>
            <a:r>
              <a:rPr lang="de-DE" dirty="0" err="1"/>
              <a:t>Then</a:t>
            </a:r>
            <a:r>
              <a:rPr lang="de-DE" dirty="0"/>
              <a:t> in a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step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calculate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allele </a:t>
            </a:r>
            <a:r>
              <a:rPr lang="de-DE" dirty="0" err="1"/>
              <a:t>counts</a:t>
            </a:r>
            <a:r>
              <a:rPr lang="de-DE" dirty="0"/>
              <a:t> and </a:t>
            </a:r>
            <a:r>
              <a:rPr lang="de-DE" dirty="0" err="1"/>
              <a:t>frequencies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HWE,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finally</a:t>
            </a:r>
            <a:r>
              <a:rPr lang="de-DE" dirty="0"/>
              <a:t> </a:t>
            </a: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generation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simulated</a:t>
            </a:r>
            <a:r>
              <a:rPr lang="de-DE" dirty="0"/>
              <a:t>,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individuals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generation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selected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rmultinom</a:t>
            </a:r>
            <a:r>
              <a:rPr lang="de-DE" dirty="0"/>
              <a:t>, so alleles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assigned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offspring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genotype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own </a:t>
            </a:r>
            <a:r>
              <a:rPr lang="de-DE" dirty="0" err="1"/>
              <a:t>distinct</a:t>
            </a:r>
            <a:r>
              <a:rPr lang="de-DE" dirty="0"/>
              <a:t> </a:t>
            </a:r>
            <a:r>
              <a:rPr lang="de-DE" dirty="0" err="1"/>
              <a:t>fitness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w,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 </a:t>
            </a:r>
            <a:r>
              <a:rPr lang="de-DE" dirty="0" err="1"/>
              <a:t>sensitivity</a:t>
            </a:r>
            <a:r>
              <a:rPr lang="de-DE" dirty="0"/>
              <a:t>. </a:t>
            </a:r>
          </a:p>
          <a:p>
            <a:endParaRPr lang="de-DE" dirty="0"/>
          </a:p>
          <a:p>
            <a:r>
              <a:rPr lang="de-DE" dirty="0"/>
              <a:t>Total </a:t>
            </a:r>
            <a:r>
              <a:rPr lang="de-DE" dirty="0" err="1"/>
              <a:t>population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calculated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individual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genotype</a:t>
            </a:r>
            <a:r>
              <a:rPr lang="de-DE" dirty="0"/>
              <a:t>. 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431F3-D15C-4DB4-AB76-F996E1C8539E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29939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: </a:t>
            </a:r>
          </a:p>
          <a:p>
            <a:r>
              <a:rPr lang="de-DE" dirty="0"/>
              <a:t>- I </a:t>
            </a:r>
            <a:r>
              <a:rPr lang="de-DE" dirty="0" err="1"/>
              <a:t>investigated</a:t>
            </a:r>
            <a:r>
              <a:rPr lang="de-DE" dirty="0"/>
              <a:t> …(</a:t>
            </a:r>
            <a:r>
              <a:rPr lang="de-DE" dirty="0" err="1"/>
              <a:t>point</a:t>
            </a:r>
            <a:r>
              <a:rPr lang="de-DE" dirty="0"/>
              <a:t> 1) </a:t>
            </a:r>
            <a:r>
              <a:rPr lang="de-DE" dirty="0" err="1"/>
              <a:t>under</a:t>
            </a:r>
            <a:r>
              <a:rPr lang="de-DE" dirty="0"/>
              <a:t> different </a:t>
            </a:r>
            <a:r>
              <a:rPr lang="de-DE" dirty="0" err="1"/>
              <a:t>assumptions</a:t>
            </a:r>
            <a:r>
              <a:rPr lang="de-DE" dirty="0"/>
              <a:t> and </a:t>
            </a:r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sizes</a:t>
            </a:r>
            <a:endParaRPr lang="de-DE" dirty="0"/>
          </a:p>
          <a:p>
            <a:endParaRPr lang="de-DE" dirty="0"/>
          </a:p>
          <a:p>
            <a:r>
              <a:rPr lang="de-DE" dirty="0"/>
              <a:t>- This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inspired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a real </a:t>
            </a:r>
            <a:r>
              <a:rPr lang="de-DE" dirty="0" err="1"/>
              <a:t>example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conservational</a:t>
            </a:r>
            <a:r>
              <a:rPr lang="de-DE" dirty="0"/>
              <a:t> </a:t>
            </a:r>
            <a:r>
              <a:rPr lang="de-DE" dirty="0" err="1"/>
              <a:t>rescue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iberian</a:t>
            </a:r>
            <a:r>
              <a:rPr lang="de-DE" dirty="0"/>
              <a:t> </a:t>
            </a:r>
            <a:r>
              <a:rPr lang="de-DE" dirty="0" err="1"/>
              <a:t>lynx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started</a:t>
            </a:r>
            <a:r>
              <a:rPr lang="de-DE" dirty="0"/>
              <a:t> </a:t>
            </a:r>
            <a:r>
              <a:rPr lang="de-DE" dirty="0" err="1"/>
              <a:t>before</a:t>
            </a:r>
            <a:r>
              <a:rPr lang="de-DE" dirty="0"/>
              <a:t> I was </a:t>
            </a:r>
            <a:r>
              <a:rPr lang="de-DE" dirty="0" err="1"/>
              <a:t>born</a:t>
            </a:r>
            <a:r>
              <a:rPr lang="de-DE" dirty="0"/>
              <a:t> and </a:t>
            </a:r>
            <a:r>
              <a:rPr lang="de-DE" dirty="0" err="1"/>
              <a:t>is</a:t>
            </a:r>
            <a:r>
              <a:rPr lang="de-DE" dirty="0"/>
              <a:t> still </a:t>
            </a:r>
            <a:r>
              <a:rPr lang="de-DE" dirty="0" err="1"/>
              <a:t>ongoing</a:t>
            </a:r>
            <a:r>
              <a:rPr lang="de-DE" dirty="0"/>
              <a:t> </a:t>
            </a:r>
            <a:r>
              <a:rPr lang="de-DE" dirty="0" err="1"/>
              <a:t>today</a:t>
            </a:r>
            <a:r>
              <a:rPr lang="de-DE" dirty="0"/>
              <a:t>, and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really</a:t>
            </a:r>
            <a:r>
              <a:rPr lang="de-DE" dirty="0"/>
              <a:t> </a:t>
            </a:r>
            <a:r>
              <a:rPr lang="de-DE" dirty="0" err="1"/>
              <a:t>fascinated</a:t>
            </a:r>
            <a:r>
              <a:rPr lang="de-DE" dirty="0"/>
              <a:t> </a:t>
            </a:r>
            <a:r>
              <a:rPr lang="de-DE" dirty="0" err="1"/>
              <a:t>me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so I also </a:t>
            </a:r>
            <a:r>
              <a:rPr lang="de-DE" dirty="0" err="1"/>
              <a:t>wanted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challenge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a </a:t>
            </a:r>
            <a:r>
              <a:rPr lang="de-DE" dirty="0" err="1"/>
              <a:t>little</a:t>
            </a:r>
            <a:r>
              <a:rPr lang="de-DE" dirty="0"/>
              <a:t>. </a:t>
            </a:r>
            <a:r>
              <a:rPr lang="de-DE" dirty="0" err="1"/>
              <a:t>Why</a:t>
            </a:r>
            <a:r>
              <a:rPr lang="de-DE" dirty="0"/>
              <a:t>? </a:t>
            </a:r>
            <a:r>
              <a:rPr lang="de-DE" dirty="0" err="1"/>
              <a:t>Because</a:t>
            </a:r>
            <a:endParaRPr lang="de-DE" dirty="0"/>
          </a:p>
          <a:p>
            <a:endParaRPr lang="de-DE" dirty="0"/>
          </a:p>
          <a:p>
            <a:pPr marL="171450" indent="-171450">
              <a:buFontTx/>
              <a:buChar char="-"/>
            </a:pPr>
            <a:r>
              <a:rPr lang="de-CH" dirty="0"/>
              <a:t>I </a:t>
            </a:r>
            <a:r>
              <a:rPr lang="de-CH" dirty="0" err="1"/>
              <a:t>wanted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see</a:t>
            </a:r>
            <a:r>
              <a:rPr lang="de-CH" dirty="0"/>
              <a:t> </a:t>
            </a:r>
            <a:r>
              <a:rPr lang="de-CH" dirty="0" err="1"/>
              <a:t>if</a:t>
            </a:r>
            <a:r>
              <a:rPr lang="de-CH" dirty="0"/>
              <a:t> </a:t>
            </a:r>
            <a:r>
              <a:rPr lang="de-CH" dirty="0" err="1"/>
              <a:t>there</a:t>
            </a:r>
            <a:r>
              <a:rPr lang="de-CH" dirty="0"/>
              <a:t> </a:t>
            </a:r>
            <a:r>
              <a:rPr lang="de-CH" dirty="0" err="1"/>
              <a:t>might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a possible </a:t>
            </a:r>
            <a:r>
              <a:rPr lang="de-CH" dirty="0" err="1"/>
              <a:t>rescue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different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classical</a:t>
            </a:r>
            <a:r>
              <a:rPr lang="de-CH" dirty="0"/>
              <a:t> </a:t>
            </a:r>
            <a:r>
              <a:rPr lang="de-CH" dirty="0" err="1"/>
              <a:t>conservation</a:t>
            </a:r>
            <a:r>
              <a:rPr lang="de-CH" dirty="0"/>
              <a:t> </a:t>
            </a:r>
            <a:r>
              <a:rPr lang="de-CH" dirty="0" err="1"/>
              <a:t>approaches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include</a:t>
            </a:r>
            <a:r>
              <a:rPr lang="de-CH" dirty="0"/>
              <a:t>… (</a:t>
            </a:r>
            <a:r>
              <a:rPr lang="de-CH" dirty="0" err="1"/>
              <a:t>point</a:t>
            </a:r>
            <a:r>
              <a:rPr lang="de-CH" dirty="0"/>
              <a:t> 3)</a:t>
            </a:r>
          </a:p>
          <a:p>
            <a:pPr marL="171450" indent="-171450">
              <a:buFontTx/>
              <a:buChar char="-"/>
            </a:pPr>
            <a:r>
              <a:rPr lang="de-CH" dirty="0"/>
              <a:t>So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questions</a:t>
            </a:r>
            <a:r>
              <a:rPr lang="de-CH" dirty="0"/>
              <a:t> I </a:t>
            </a:r>
            <a:r>
              <a:rPr lang="de-CH" dirty="0" err="1"/>
              <a:t>investigated</a:t>
            </a:r>
            <a:r>
              <a:rPr lang="de-CH" dirty="0"/>
              <a:t> in </a:t>
            </a:r>
            <a:r>
              <a:rPr lang="de-CH" dirty="0" err="1"/>
              <a:t>this</a:t>
            </a:r>
            <a:r>
              <a:rPr lang="de-CH" dirty="0"/>
              <a:t> </a:t>
            </a:r>
            <a:r>
              <a:rPr lang="de-CH" dirty="0" err="1"/>
              <a:t>model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: </a:t>
            </a:r>
          </a:p>
          <a:p>
            <a:pPr marL="171450" indent="-171450">
              <a:buFontTx/>
              <a:buChar char="-"/>
            </a:pPr>
            <a:r>
              <a:rPr lang="de-CH" dirty="0"/>
              <a:t>… (</a:t>
            </a:r>
            <a:r>
              <a:rPr lang="de-CH" dirty="0" err="1"/>
              <a:t>point</a:t>
            </a:r>
            <a:r>
              <a:rPr lang="de-CH" dirty="0"/>
              <a:t> 4 and 5)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431F3-D15C-4DB4-AB76-F996E1C8539E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22787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Okay and </a:t>
            </a:r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might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(</a:t>
            </a:r>
            <a:r>
              <a:rPr lang="de-DE" dirty="0" err="1"/>
              <a:t>moderately</a:t>
            </a:r>
            <a:r>
              <a:rPr lang="de-DE" dirty="0"/>
              <a:t>) </a:t>
            </a:r>
            <a:r>
              <a:rPr lang="de-DE" dirty="0" err="1"/>
              <a:t>interesting</a:t>
            </a:r>
            <a:r>
              <a:rPr lang="de-DE" dirty="0"/>
              <a:t>?</a:t>
            </a:r>
          </a:p>
          <a:p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So i </a:t>
            </a:r>
            <a:r>
              <a:rPr lang="de-DE" dirty="0" err="1"/>
              <a:t>think</a:t>
            </a:r>
            <a:r>
              <a:rPr lang="de-DE" dirty="0"/>
              <a:t> a </a:t>
            </a:r>
            <a:r>
              <a:rPr lang="de-DE" dirty="0" err="1"/>
              <a:t>few</a:t>
            </a:r>
            <a:r>
              <a:rPr lang="de-DE" dirty="0"/>
              <a:t> </a:t>
            </a:r>
            <a:r>
              <a:rPr lang="de-DE" dirty="0" err="1"/>
              <a:t>things</a:t>
            </a:r>
            <a:r>
              <a:rPr lang="de-DE" dirty="0"/>
              <a:t> i </a:t>
            </a:r>
            <a:r>
              <a:rPr lang="de-DE" dirty="0" err="1"/>
              <a:t>mentioned</a:t>
            </a:r>
            <a:r>
              <a:rPr lang="de-DE" dirty="0"/>
              <a:t> in </a:t>
            </a:r>
            <a:r>
              <a:rPr lang="de-DE" dirty="0" err="1"/>
              <a:t>my</a:t>
            </a:r>
            <a:r>
              <a:rPr lang="de-DE" dirty="0"/>
              <a:t> last </a:t>
            </a:r>
            <a:r>
              <a:rPr lang="de-DE" dirty="0" err="1"/>
              <a:t>slide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at least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biological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conservational</a:t>
            </a:r>
            <a:r>
              <a:rPr lang="de-DE" dirty="0"/>
              <a:t> </a:t>
            </a:r>
            <a:r>
              <a:rPr lang="de-DE" dirty="0" err="1"/>
              <a:t>relevance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So i </a:t>
            </a:r>
            <a:r>
              <a:rPr lang="de-DE" dirty="0" err="1"/>
              <a:t>believe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conventional</a:t>
            </a:r>
            <a:r>
              <a:rPr lang="de-DE" dirty="0"/>
              <a:t> </a:t>
            </a:r>
            <a:r>
              <a:rPr lang="de-DE" dirty="0" err="1"/>
              <a:t>conservational</a:t>
            </a:r>
            <a:r>
              <a:rPr lang="de-DE" dirty="0"/>
              <a:t> </a:t>
            </a:r>
            <a:r>
              <a:rPr lang="de-DE" dirty="0" err="1"/>
              <a:t>approaches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… (</a:t>
            </a:r>
            <a:r>
              <a:rPr lang="de-DE" dirty="0" err="1"/>
              <a:t>point</a:t>
            </a:r>
            <a:r>
              <a:rPr lang="de-DE" dirty="0"/>
              <a:t> 2), (</a:t>
            </a:r>
            <a:r>
              <a:rPr lang="de-DE" dirty="0" err="1"/>
              <a:t>point</a:t>
            </a:r>
            <a:r>
              <a:rPr lang="de-DE" dirty="0"/>
              <a:t> 3 )</a:t>
            </a:r>
          </a:p>
          <a:p>
            <a:pPr marL="171450" indent="-171450">
              <a:buFontTx/>
              <a:buChar char="-"/>
            </a:pPr>
            <a:r>
              <a:rPr lang="de-DE" dirty="0"/>
              <a:t>(</a:t>
            </a:r>
            <a:r>
              <a:rPr lang="de-DE" dirty="0" err="1"/>
              <a:t>point</a:t>
            </a:r>
            <a:r>
              <a:rPr lang="de-DE" dirty="0"/>
              <a:t> 4)</a:t>
            </a:r>
          </a:p>
          <a:p>
            <a:pPr marL="171450" indent="-171450">
              <a:buFontTx/>
              <a:buChar char="-"/>
            </a:pPr>
            <a:r>
              <a:rPr lang="de-DE" dirty="0"/>
              <a:t>(</a:t>
            </a:r>
            <a:r>
              <a:rPr lang="de-DE" dirty="0" err="1"/>
              <a:t>point</a:t>
            </a:r>
            <a:r>
              <a:rPr lang="de-DE" dirty="0"/>
              <a:t> 5)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endParaRPr lang="de-DE" dirty="0"/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431F3-D15C-4DB4-AB76-F996E1C8539E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14540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Dens</a:t>
            </a:r>
            <a:r>
              <a:rPr lang="de-DE" dirty="0"/>
              <a:t>: </a:t>
            </a:r>
            <a:r>
              <a:rPr lang="de-DE" dirty="0" err="1"/>
              <a:t>which</a:t>
            </a:r>
            <a:r>
              <a:rPr lang="de-DE" dirty="0"/>
              <a:t> i will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later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Explain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an </a:t>
            </a:r>
            <a:r>
              <a:rPr lang="de-DE" dirty="0" err="1"/>
              <a:t>allee</a:t>
            </a:r>
            <a:r>
              <a:rPr lang="de-DE" dirty="0"/>
              <a:t> </a:t>
            </a:r>
            <a:r>
              <a:rPr lang="de-DE" dirty="0" err="1"/>
              <a:t>effect</a:t>
            </a:r>
            <a:endParaRPr lang="de-DE" dirty="0"/>
          </a:p>
          <a:p>
            <a:endParaRPr lang="de-DE" dirty="0"/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431F3-D15C-4DB4-AB76-F996E1C8539E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52293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de-DE" dirty="0"/>
              <a:t>Non-</a:t>
            </a:r>
            <a:r>
              <a:rPr lang="de-DE" dirty="0" err="1"/>
              <a:t>panmictic</a:t>
            </a:r>
            <a:r>
              <a:rPr lang="de-DE" dirty="0"/>
              <a:t>: </a:t>
            </a:r>
          </a:p>
          <a:p>
            <a:pPr marL="171450" indent="-171450">
              <a:buFontTx/>
              <a:buChar char="-"/>
            </a:pPr>
            <a:r>
              <a:rPr lang="de-DE" dirty="0"/>
              <a:t>Next </a:t>
            </a:r>
            <a:r>
              <a:rPr lang="de-DE" dirty="0" err="1"/>
              <a:t>generation</a:t>
            </a:r>
            <a:r>
              <a:rPr lang="de-DE" dirty="0"/>
              <a:t> </a:t>
            </a:r>
            <a:r>
              <a:rPr lang="de-DE" dirty="0" err="1"/>
              <a:t>offspring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drawn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poisson</a:t>
            </a:r>
            <a:r>
              <a:rPr lang="de-DE" dirty="0"/>
              <a:t> </a:t>
            </a:r>
            <a:r>
              <a:rPr lang="de-DE" dirty="0" err="1"/>
              <a:t>distribution</a:t>
            </a:r>
            <a:r>
              <a:rPr lang="de-DE" dirty="0"/>
              <a:t> 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Expected</a:t>
            </a:r>
            <a:r>
              <a:rPr lang="de-DE" dirty="0"/>
              <a:t> </a:t>
            </a:r>
            <a:r>
              <a:rPr lang="de-DE" dirty="0" err="1"/>
              <a:t>population</a:t>
            </a:r>
            <a:r>
              <a:rPr lang="de-DE" dirty="0"/>
              <a:t> </a:t>
            </a:r>
            <a:r>
              <a:rPr lang="de-DE" dirty="0" err="1"/>
              <a:t>growth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product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intrinsic</a:t>
            </a:r>
            <a:r>
              <a:rPr lang="de-DE" dirty="0"/>
              <a:t> </a:t>
            </a:r>
            <a:r>
              <a:rPr lang="de-DE" dirty="0" err="1"/>
              <a:t>fitness</a:t>
            </a:r>
            <a:r>
              <a:rPr lang="de-DE" dirty="0"/>
              <a:t>, </a:t>
            </a:r>
            <a:r>
              <a:rPr lang="de-DE" dirty="0" err="1"/>
              <a:t>density</a:t>
            </a:r>
            <a:r>
              <a:rPr lang="de-DE" dirty="0"/>
              <a:t> </a:t>
            </a:r>
            <a:r>
              <a:rPr lang="de-DE" dirty="0" err="1"/>
              <a:t>dependence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respect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K, </a:t>
            </a:r>
            <a:r>
              <a:rPr lang="de-DE" dirty="0" err="1"/>
              <a:t>allee</a:t>
            </a:r>
            <a:r>
              <a:rPr lang="de-DE" dirty="0"/>
              <a:t> 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eith</a:t>
            </a:r>
            <a:r>
              <a:rPr lang="de-DE" dirty="0"/>
              <a:t> </a:t>
            </a:r>
            <a:r>
              <a:rPr lang="de-DE" dirty="0" err="1"/>
              <a:t>respect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(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power </a:t>
            </a:r>
            <a:r>
              <a:rPr lang="de-DE" dirty="0" err="1"/>
              <a:t>of</a:t>
            </a:r>
            <a:r>
              <a:rPr lang="de-DE" dirty="0"/>
              <a:t> 0.5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weakend</a:t>
            </a:r>
            <a:r>
              <a:rPr lang="de-DE" dirty="0"/>
              <a:t> </a:t>
            </a:r>
            <a:r>
              <a:rPr lang="de-DE" dirty="0" err="1"/>
              <a:t>allee</a:t>
            </a:r>
            <a:r>
              <a:rPr lang="de-DE" dirty="0"/>
              <a:t> </a:t>
            </a:r>
            <a:r>
              <a:rPr lang="de-DE" dirty="0" err="1"/>
              <a:t>efect</a:t>
            </a:r>
            <a:r>
              <a:rPr lang="de-DE" dirty="0"/>
              <a:t>, </a:t>
            </a:r>
            <a:r>
              <a:rPr lang="de-DE" dirty="0" err="1"/>
              <a:t>because</a:t>
            </a:r>
            <a:r>
              <a:rPr lang="de-DE" dirty="0"/>
              <a:t> </a:t>
            </a:r>
            <a:r>
              <a:rPr lang="de-DE" dirty="0" err="1"/>
              <a:t>populations</a:t>
            </a:r>
            <a:r>
              <a:rPr lang="de-DE" dirty="0"/>
              <a:t> </a:t>
            </a:r>
            <a:r>
              <a:rPr lang="de-DE" dirty="0" err="1"/>
              <a:t>otherwise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not </a:t>
            </a:r>
            <a:r>
              <a:rPr lang="de-DE" dirty="0" err="1"/>
              <a:t>able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recover</a:t>
            </a:r>
            <a:r>
              <a:rPr lang="de-DE" dirty="0"/>
              <a:t>)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Env</a:t>
            </a:r>
            <a:r>
              <a:rPr lang="de-DE" dirty="0"/>
              <a:t>: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yearly</a:t>
            </a:r>
            <a:r>
              <a:rPr lang="de-DE" dirty="0"/>
              <a:t> environmental 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drawn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normal </a:t>
            </a:r>
            <a:r>
              <a:rPr lang="de-DE" dirty="0" err="1"/>
              <a:t>dist</a:t>
            </a:r>
            <a:r>
              <a:rPr lang="de-DE" dirty="0"/>
              <a:t>, </a:t>
            </a:r>
            <a:r>
              <a:rPr lang="de-DE" dirty="0" err="1"/>
              <a:t>sd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genotype</a:t>
            </a:r>
            <a:r>
              <a:rPr lang="de-DE" dirty="0"/>
              <a:t> </a:t>
            </a:r>
            <a:r>
              <a:rPr lang="de-DE" dirty="0" err="1"/>
              <a:t>dependent</a:t>
            </a:r>
            <a:r>
              <a:rPr lang="de-DE" dirty="0"/>
              <a:t> „</a:t>
            </a:r>
            <a:r>
              <a:rPr lang="de-DE" dirty="0" err="1"/>
              <a:t>sigma_env</a:t>
            </a:r>
            <a:r>
              <a:rPr lang="de-DE" dirty="0"/>
              <a:t>“ </a:t>
            </a:r>
            <a:r>
              <a:rPr lang="de-DE" dirty="0" err="1"/>
              <a:t>value</a:t>
            </a:r>
            <a:r>
              <a:rPr lang="de-DE" dirty="0"/>
              <a:t>)</a:t>
            </a:r>
          </a:p>
          <a:p>
            <a:pPr marL="171450" indent="-171450">
              <a:buFontTx/>
              <a:buChar char="-"/>
            </a:pPr>
            <a:r>
              <a:rPr lang="de-DE" dirty="0"/>
              <a:t>Same </a:t>
            </a:r>
            <a:r>
              <a:rPr lang="de-DE" dirty="0" err="1"/>
              <a:t>formula</a:t>
            </a:r>
            <a:r>
              <a:rPr lang="de-DE" dirty="0"/>
              <a:t> </a:t>
            </a:r>
            <a:r>
              <a:rPr lang="de-DE" dirty="0" err="1"/>
              <a:t>applies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Mutant </a:t>
            </a:r>
            <a:r>
              <a:rPr lang="de-DE" dirty="0" err="1"/>
              <a:t>genotype</a:t>
            </a:r>
            <a:r>
              <a:rPr lang="de-DE" dirty="0"/>
              <a:t>/A </a:t>
            </a:r>
            <a:r>
              <a:rPr lang="de-DE" dirty="0" err="1"/>
              <a:t>genotype</a:t>
            </a: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  <a:p>
            <a:pPr marL="0" indent="0">
              <a:buFontTx/>
              <a:buNone/>
            </a:pPr>
            <a:r>
              <a:rPr lang="de-DE" dirty="0"/>
              <a:t>2. diploid: </a:t>
            </a:r>
          </a:p>
          <a:p>
            <a:pPr marL="171450" indent="-171450">
              <a:buFontTx/>
              <a:buChar char="-"/>
            </a:pPr>
            <a:r>
              <a:rPr lang="de-DE" dirty="0"/>
              <a:t>First allele </a:t>
            </a:r>
            <a:r>
              <a:rPr lang="de-DE" dirty="0" err="1"/>
              <a:t>count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determined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population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Calculations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allele </a:t>
            </a:r>
            <a:r>
              <a:rPr lang="de-DE" dirty="0" err="1"/>
              <a:t>frequencies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HWE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431F3-D15C-4DB4-AB76-F996E1C8539E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08961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de-DE" dirty="0"/>
              <a:t>Figure </a:t>
            </a:r>
            <a:r>
              <a:rPr lang="de-DE" dirty="0" err="1"/>
              <a:t>for</a:t>
            </a:r>
            <a:r>
              <a:rPr lang="de-DE" dirty="0"/>
              <a:t> different </a:t>
            </a:r>
            <a:r>
              <a:rPr lang="de-DE" dirty="0" err="1"/>
              <a:t>numbers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introduced</a:t>
            </a:r>
            <a:r>
              <a:rPr lang="de-DE" dirty="0"/>
              <a:t> </a:t>
            </a:r>
            <a:r>
              <a:rPr lang="de-DE" dirty="0" err="1"/>
              <a:t>mutant</a:t>
            </a:r>
            <a:r>
              <a:rPr lang="de-DE" dirty="0"/>
              <a:t> </a:t>
            </a:r>
            <a:r>
              <a:rPr lang="de-DE" dirty="0" err="1"/>
              <a:t>individuals</a:t>
            </a:r>
            <a:r>
              <a:rPr lang="de-DE" dirty="0"/>
              <a:t> (10, 20, 100)</a:t>
            </a:r>
          </a:p>
          <a:p>
            <a:pPr marL="228600" indent="-228600">
              <a:buAutoNum type="arabicPeriod"/>
            </a:pPr>
            <a:r>
              <a:rPr lang="de-DE" dirty="0"/>
              <a:t>Singular </a:t>
            </a:r>
            <a:r>
              <a:rPr lang="de-DE" dirty="0" err="1"/>
              <a:t>runs</a:t>
            </a:r>
            <a:r>
              <a:rPr lang="de-DE" dirty="0"/>
              <a:t>/</a:t>
            </a:r>
            <a:r>
              <a:rPr lang="de-DE" dirty="0" err="1"/>
              <a:t>simulations</a:t>
            </a:r>
            <a:r>
              <a:rPr lang="de-DE" dirty="0"/>
              <a:t>: possible </a:t>
            </a:r>
            <a:r>
              <a:rPr lang="de-DE" dirty="0" err="1"/>
              <a:t>outcomes</a:t>
            </a:r>
            <a:endParaRPr lang="de-DE" dirty="0"/>
          </a:p>
          <a:p>
            <a:pPr marL="228600" indent="-228600">
              <a:buAutoNum type="arabicPeriod"/>
            </a:pPr>
            <a:r>
              <a:rPr lang="de-DE" dirty="0" err="1"/>
              <a:t>slide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431F3-D15C-4DB4-AB76-F996E1C8539E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32189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i </a:t>
            </a:r>
            <a:r>
              <a:rPr lang="de-DE" dirty="0" err="1"/>
              <a:t>calculated</a:t>
            </a:r>
            <a:r>
              <a:rPr lang="de-DE" dirty="0"/>
              <a:t> </a:t>
            </a:r>
            <a:r>
              <a:rPr lang="de-DE" dirty="0" err="1"/>
              <a:t>extinction</a:t>
            </a:r>
            <a:r>
              <a:rPr lang="de-DE" dirty="0"/>
              <a:t> </a:t>
            </a:r>
            <a:r>
              <a:rPr lang="de-DE" dirty="0" err="1"/>
              <a:t>probabilities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initial </a:t>
            </a:r>
            <a:r>
              <a:rPr lang="de-DE" dirty="0" err="1"/>
              <a:t>wildtype</a:t>
            </a:r>
            <a:r>
              <a:rPr lang="de-DE" dirty="0"/>
              <a:t> </a:t>
            </a:r>
            <a:r>
              <a:rPr lang="de-DE" dirty="0" err="1"/>
              <a:t>population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100 </a:t>
            </a:r>
            <a:r>
              <a:rPr lang="de-DE" dirty="0" err="1"/>
              <a:t>indiv</a:t>
            </a:r>
            <a:r>
              <a:rPr lang="de-DE" dirty="0"/>
              <a:t>. Under </a:t>
            </a:r>
            <a:r>
              <a:rPr lang="de-DE" dirty="0" err="1"/>
              <a:t>variation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environmental </a:t>
            </a:r>
            <a:r>
              <a:rPr lang="de-DE" dirty="0" err="1"/>
              <a:t>fluctuation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sensitivity</a:t>
            </a:r>
            <a:r>
              <a:rPr lang="de-DE" dirty="0"/>
              <a:t> (</a:t>
            </a:r>
            <a:r>
              <a:rPr lang="de-DE" dirty="0" err="1"/>
              <a:t>left</a:t>
            </a:r>
            <a:r>
              <a:rPr lang="de-DE" dirty="0"/>
              <a:t>) and </a:t>
            </a:r>
            <a:r>
              <a:rPr lang="de-DE" dirty="0" err="1"/>
              <a:t>fitness</a:t>
            </a:r>
            <a:r>
              <a:rPr lang="de-DE" dirty="0"/>
              <a:t> (</a:t>
            </a:r>
            <a:r>
              <a:rPr lang="de-DE" dirty="0" err="1"/>
              <a:t>right</a:t>
            </a:r>
            <a:r>
              <a:rPr lang="de-DE" dirty="0"/>
              <a:t>)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notice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interesting</a:t>
            </a:r>
            <a:r>
              <a:rPr lang="de-DE" dirty="0"/>
              <a:t> </a:t>
            </a:r>
            <a:r>
              <a:rPr lang="de-DE" dirty="0" err="1"/>
              <a:t>trends</a:t>
            </a:r>
            <a:r>
              <a:rPr lang="de-DE" dirty="0"/>
              <a:t> and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seem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pos. Corr. With ext. Prob and </a:t>
            </a:r>
            <a:r>
              <a:rPr lang="de-DE" dirty="0" err="1"/>
              <a:t>increased</a:t>
            </a:r>
            <a:r>
              <a:rPr lang="de-DE" dirty="0"/>
              <a:t> </a:t>
            </a:r>
            <a:r>
              <a:rPr lang="de-DE" dirty="0" err="1"/>
              <a:t>env</a:t>
            </a:r>
            <a:r>
              <a:rPr lang="de-DE" dirty="0"/>
              <a:t>. </a:t>
            </a:r>
            <a:r>
              <a:rPr lang="de-DE" dirty="0" err="1"/>
              <a:t>Fluctuation</a:t>
            </a:r>
            <a:endParaRPr lang="de-DE" dirty="0"/>
          </a:p>
          <a:p>
            <a:endParaRPr lang="de-DE" dirty="0"/>
          </a:p>
          <a:p>
            <a:r>
              <a:rPr lang="de-DE" dirty="0"/>
              <a:t>And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might</a:t>
            </a:r>
            <a:r>
              <a:rPr lang="de-DE" dirty="0"/>
              <a:t> also </a:t>
            </a:r>
            <a:r>
              <a:rPr lang="de-DE" dirty="0" err="1"/>
              <a:t>notice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i </a:t>
            </a:r>
            <a:r>
              <a:rPr lang="de-DE" dirty="0" err="1"/>
              <a:t>investigated</a:t>
            </a:r>
            <a:r>
              <a:rPr lang="de-DE" dirty="0"/>
              <a:t> </a:t>
            </a:r>
            <a:r>
              <a:rPr lang="de-DE" dirty="0" err="1"/>
              <a:t>fitness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a,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really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a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range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variation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slightly</a:t>
            </a:r>
            <a:r>
              <a:rPr lang="de-DE" dirty="0"/>
              <a:t> </a:t>
            </a:r>
            <a:r>
              <a:rPr lang="de-DE" dirty="0" err="1"/>
              <a:t>disadvantageous</a:t>
            </a:r>
            <a:r>
              <a:rPr lang="de-DE" dirty="0"/>
              <a:t> (0.95)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slightly</a:t>
            </a:r>
            <a:r>
              <a:rPr lang="de-DE" dirty="0"/>
              <a:t> </a:t>
            </a:r>
            <a:r>
              <a:rPr lang="de-DE" dirty="0" err="1"/>
              <a:t>beneficial</a:t>
            </a:r>
            <a:r>
              <a:rPr lang="de-DE" dirty="0"/>
              <a:t> (1.05), but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notice</a:t>
            </a:r>
            <a:r>
              <a:rPr lang="de-DE" dirty="0"/>
              <a:t> </a:t>
            </a:r>
            <a:r>
              <a:rPr lang="de-DE" dirty="0" err="1"/>
              <a:t>interesting</a:t>
            </a:r>
            <a:r>
              <a:rPr lang="de-DE" dirty="0"/>
              <a:t> </a:t>
            </a:r>
            <a:r>
              <a:rPr lang="de-DE" dirty="0" err="1"/>
              <a:t>changes</a:t>
            </a:r>
            <a:r>
              <a:rPr lang="de-DE" dirty="0"/>
              <a:t> in ext. </a:t>
            </a:r>
            <a:r>
              <a:rPr lang="de-DE" dirty="0" err="1"/>
              <a:t>Probabilities</a:t>
            </a:r>
            <a:r>
              <a:rPr lang="de-DE" dirty="0"/>
              <a:t> </a:t>
            </a:r>
            <a:r>
              <a:rPr lang="de-DE" dirty="0" err="1"/>
              <a:t>accross</a:t>
            </a:r>
            <a:r>
              <a:rPr lang="de-DE" dirty="0"/>
              <a:t> 1000 </a:t>
            </a:r>
            <a:r>
              <a:rPr lang="de-DE" dirty="0" err="1"/>
              <a:t>simulation</a:t>
            </a:r>
            <a:r>
              <a:rPr lang="de-DE" dirty="0"/>
              <a:t> </a:t>
            </a:r>
            <a:r>
              <a:rPr lang="de-DE" dirty="0" err="1"/>
              <a:t>runs</a:t>
            </a:r>
            <a:r>
              <a:rPr lang="de-DE" dirty="0"/>
              <a:t>, </a:t>
            </a:r>
            <a:r>
              <a:rPr lang="de-DE" dirty="0" err="1"/>
              <a:t>falling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&gt;95% 8almost </a:t>
            </a:r>
            <a:r>
              <a:rPr lang="de-DE" dirty="0" err="1"/>
              <a:t>certain</a:t>
            </a:r>
            <a:r>
              <a:rPr lang="de-DE" dirty="0"/>
              <a:t> </a:t>
            </a:r>
            <a:r>
              <a:rPr lang="de-DE" dirty="0" err="1"/>
              <a:t>extinction</a:t>
            </a:r>
            <a:r>
              <a:rPr lang="de-DE" dirty="0"/>
              <a:t>)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below</a:t>
            </a:r>
            <a:r>
              <a:rPr lang="de-DE" dirty="0"/>
              <a:t> 80%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genotypes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slightly</a:t>
            </a:r>
            <a:r>
              <a:rPr lang="de-DE" dirty="0"/>
              <a:t> </a:t>
            </a:r>
            <a:r>
              <a:rPr lang="de-DE" dirty="0" err="1"/>
              <a:t>beneficial</a:t>
            </a:r>
            <a:r>
              <a:rPr lang="de-DE" dirty="0"/>
              <a:t>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431F3-D15C-4DB4-AB76-F996E1C8539E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5215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These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,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diploid </a:t>
            </a:r>
            <a:r>
              <a:rPr lang="de-DE" dirty="0" err="1"/>
              <a:t>panmictic</a:t>
            </a:r>
            <a:r>
              <a:rPr lang="de-DE" dirty="0"/>
              <a:t> </a:t>
            </a:r>
            <a:r>
              <a:rPr lang="de-DE" dirty="0" err="1"/>
              <a:t>conditions</a:t>
            </a:r>
            <a:r>
              <a:rPr lang="de-DE" dirty="0"/>
              <a:t>. </a:t>
            </a:r>
          </a:p>
          <a:p>
            <a:endParaRPr lang="de-DE" dirty="0"/>
          </a:p>
          <a:p>
            <a:r>
              <a:rPr lang="de-DE" dirty="0"/>
              <a:t>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left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a possible </a:t>
            </a:r>
            <a:r>
              <a:rPr lang="de-DE" dirty="0" err="1"/>
              <a:t>outcome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100gen, </a:t>
            </a:r>
            <a:r>
              <a:rPr lang="de-DE" dirty="0" err="1"/>
              <a:t>assuming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introduced</a:t>
            </a:r>
            <a:r>
              <a:rPr lang="de-DE" dirty="0"/>
              <a:t> </a:t>
            </a:r>
            <a:r>
              <a:rPr lang="de-DE" dirty="0" err="1"/>
              <a:t>mutant</a:t>
            </a:r>
            <a:r>
              <a:rPr lang="de-DE" dirty="0"/>
              <a:t> </a:t>
            </a:r>
            <a:r>
              <a:rPr lang="de-DE" dirty="0" err="1"/>
              <a:t>genotypes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heterozygotes (Aa). </a:t>
            </a:r>
            <a:r>
              <a:rPr lang="de-DE" dirty="0" err="1"/>
              <a:t>Meaning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, all </a:t>
            </a:r>
            <a:r>
              <a:rPr lang="de-DE" dirty="0" err="1"/>
              <a:t>demographic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 and </a:t>
            </a:r>
            <a:r>
              <a:rPr lang="de-DE" dirty="0" err="1"/>
              <a:t>fitness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for</a:t>
            </a:r>
            <a:r>
              <a:rPr lang="de-DE" dirty="0"/>
              <a:t> homo and </a:t>
            </a:r>
            <a:r>
              <a:rPr lang="de-DE" dirty="0" err="1"/>
              <a:t>heterozygous</a:t>
            </a:r>
            <a:r>
              <a:rPr lang="de-DE" dirty="0"/>
              <a:t> </a:t>
            </a:r>
            <a:r>
              <a:rPr lang="de-DE" dirty="0" err="1"/>
              <a:t>mutants</a:t>
            </a:r>
            <a:r>
              <a:rPr lang="de-DE" dirty="0"/>
              <a:t> (AA and Aa)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observe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heterozygote </a:t>
            </a:r>
            <a:r>
              <a:rPr lang="de-DE" dirty="0" err="1"/>
              <a:t>establishes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predominant</a:t>
            </a:r>
            <a:r>
              <a:rPr lang="de-DE" dirty="0"/>
              <a:t> </a:t>
            </a:r>
            <a:r>
              <a:rPr lang="de-DE" dirty="0" err="1"/>
              <a:t>genotype</a:t>
            </a:r>
            <a:r>
              <a:rPr lang="de-DE" dirty="0"/>
              <a:t>, and </a:t>
            </a:r>
            <a:r>
              <a:rPr lang="de-DE" dirty="0" err="1"/>
              <a:t>here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wildtype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actuay</a:t>
            </a:r>
            <a:r>
              <a:rPr lang="de-DE" dirty="0"/>
              <a:t> </a:t>
            </a:r>
            <a:r>
              <a:rPr lang="de-DE" dirty="0" err="1"/>
              <a:t>able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stay</a:t>
            </a:r>
            <a:r>
              <a:rPr lang="de-DE" dirty="0"/>
              <a:t> </a:t>
            </a:r>
            <a:r>
              <a:rPr lang="de-DE" dirty="0" err="1"/>
              <a:t>present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pop</a:t>
            </a:r>
            <a:r>
              <a:rPr lang="de-DE" dirty="0"/>
              <a:t>.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seem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lotka</a:t>
            </a:r>
            <a:r>
              <a:rPr lang="de-DE" dirty="0"/>
              <a:t> </a:t>
            </a:r>
            <a:r>
              <a:rPr lang="de-DE" dirty="0" err="1"/>
              <a:t>volterra</a:t>
            </a:r>
            <a:r>
              <a:rPr lang="de-DE" dirty="0"/>
              <a:t> type </a:t>
            </a:r>
            <a:r>
              <a:rPr lang="de-DE" dirty="0" err="1"/>
              <a:t>pattern</a:t>
            </a:r>
            <a:r>
              <a:rPr lang="de-DE" dirty="0"/>
              <a:t>,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changing</a:t>
            </a:r>
            <a:r>
              <a:rPr lang="de-DE" dirty="0"/>
              <a:t> </a:t>
            </a:r>
            <a:r>
              <a:rPr lang="de-DE" dirty="0" err="1"/>
              <a:t>frequencies</a:t>
            </a:r>
            <a:r>
              <a:rPr lang="de-DE" dirty="0"/>
              <a:t> </a:t>
            </a:r>
            <a:r>
              <a:rPr lang="de-DE" dirty="0" err="1"/>
              <a:t>around</a:t>
            </a:r>
            <a:r>
              <a:rPr lang="de-DE" dirty="0"/>
              <a:t> an </a:t>
            </a:r>
            <a:r>
              <a:rPr lang="de-DE" dirty="0" err="1"/>
              <a:t>equilibrium</a:t>
            </a:r>
            <a:r>
              <a:rPr lang="de-DE" dirty="0"/>
              <a:t>, but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wildtype</a:t>
            </a:r>
            <a:r>
              <a:rPr lang="de-DE" dirty="0"/>
              <a:t>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seeming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established</a:t>
            </a:r>
            <a:r>
              <a:rPr lang="de-DE" dirty="0"/>
              <a:t> on </a:t>
            </a:r>
            <a:r>
              <a:rPr lang="de-DE" dirty="0" err="1"/>
              <a:t>average</a:t>
            </a:r>
            <a:r>
              <a:rPr lang="de-DE" dirty="0"/>
              <a:t>. </a:t>
            </a:r>
          </a:p>
          <a:p>
            <a:endParaRPr lang="de-DE" dirty="0"/>
          </a:p>
          <a:p>
            <a:r>
              <a:rPr lang="de-DE" dirty="0"/>
              <a:t>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assume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introduced</a:t>
            </a:r>
            <a:r>
              <a:rPr lang="de-DE" dirty="0"/>
              <a:t> </a:t>
            </a:r>
            <a:r>
              <a:rPr lang="de-DE" dirty="0" err="1"/>
              <a:t>mutants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homozygous</a:t>
            </a:r>
            <a:r>
              <a:rPr lang="de-DE" dirty="0"/>
              <a:t> AA, and </a:t>
            </a:r>
            <a:r>
              <a:rPr lang="de-DE" dirty="0" err="1"/>
              <a:t>here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distinct</a:t>
            </a:r>
            <a:r>
              <a:rPr lang="de-DE" dirty="0"/>
              <a:t> </a:t>
            </a:r>
            <a:r>
              <a:rPr lang="de-DE" dirty="0" err="1"/>
              <a:t>genotypes</a:t>
            </a:r>
            <a:r>
              <a:rPr lang="de-DE" dirty="0"/>
              <a:t> and </a:t>
            </a:r>
            <a:r>
              <a:rPr lang="de-DE" dirty="0" err="1"/>
              <a:t>demographic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. </a:t>
            </a:r>
            <a:r>
              <a:rPr lang="de-DE" dirty="0" err="1"/>
              <a:t>Interestingly</a:t>
            </a:r>
            <a:r>
              <a:rPr lang="de-DE" dirty="0"/>
              <a:t>, AA </a:t>
            </a:r>
            <a:r>
              <a:rPr lang="de-DE" dirty="0" err="1"/>
              <a:t>seems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establish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dominant </a:t>
            </a:r>
            <a:r>
              <a:rPr lang="de-DE" dirty="0" err="1"/>
              <a:t>genotype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time, and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tyme</a:t>
            </a:r>
            <a:r>
              <a:rPr lang="de-DE" dirty="0"/>
              <a:t> </a:t>
            </a:r>
            <a:r>
              <a:rPr lang="de-DE" dirty="0" err="1"/>
              <a:t>aa</a:t>
            </a:r>
            <a:r>
              <a:rPr lang="de-DE" dirty="0"/>
              <a:t> and Aa </a:t>
            </a:r>
            <a:r>
              <a:rPr lang="de-DE" dirty="0" err="1"/>
              <a:t>clashing</a:t>
            </a:r>
            <a:r>
              <a:rPr lang="de-DE" dirty="0"/>
              <a:t> </a:t>
            </a:r>
            <a:r>
              <a:rPr lang="de-DE" dirty="0" err="1"/>
              <a:t>around</a:t>
            </a:r>
            <a:r>
              <a:rPr lang="de-DE" dirty="0"/>
              <a:t> an </a:t>
            </a:r>
            <a:r>
              <a:rPr lang="de-DE" dirty="0" err="1"/>
              <a:t>equilibrium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generation</a:t>
            </a:r>
            <a:r>
              <a:rPr lang="de-DE" dirty="0"/>
              <a:t>. </a:t>
            </a:r>
          </a:p>
          <a:p>
            <a:endParaRPr lang="de-DE" dirty="0"/>
          </a:p>
          <a:p>
            <a:r>
              <a:rPr lang="de-DE" dirty="0"/>
              <a:t>PLEASE NOTE: Y </a:t>
            </a:r>
            <a:r>
              <a:rPr lang="de-DE" dirty="0" err="1"/>
              <a:t>axis</a:t>
            </a:r>
            <a:r>
              <a:rPr lang="de-DE" dirty="0"/>
              <a:t> </a:t>
            </a:r>
            <a:r>
              <a:rPr lang="de-DE" dirty="0" err="1"/>
              <a:t>dimensions</a:t>
            </a:r>
            <a:r>
              <a:rPr lang="de-DE" dirty="0"/>
              <a:t> </a:t>
            </a:r>
            <a:r>
              <a:rPr lang="de-DE" dirty="0" err="1"/>
              <a:t>differ</a:t>
            </a:r>
            <a:r>
              <a:rPr lang="de-DE" dirty="0"/>
              <a:t>! First </a:t>
            </a:r>
            <a:r>
              <a:rPr lang="de-DE" dirty="0" err="1"/>
              <a:t>scenario</a:t>
            </a:r>
            <a:r>
              <a:rPr lang="de-DE" dirty="0"/>
              <a:t> </a:t>
            </a:r>
            <a:r>
              <a:rPr lang="de-DE" dirty="0" err="1"/>
              <a:t>seem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yield</a:t>
            </a:r>
            <a:r>
              <a:rPr lang="de-DE" dirty="0"/>
              <a:t> a larger tot. Pop. , but </a:t>
            </a:r>
            <a:r>
              <a:rPr lang="de-DE" dirty="0" err="1"/>
              <a:t>maybe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pure </a:t>
            </a:r>
            <a:r>
              <a:rPr lang="de-DE" dirty="0" err="1"/>
              <a:t>chance</a:t>
            </a:r>
            <a:r>
              <a:rPr lang="de-DE" dirty="0"/>
              <a:t> (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sim</a:t>
            </a:r>
            <a:r>
              <a:rPr lang="de-DE" dirty="0"/>
              <a:t>!)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431F3-D15C-4DB4-AB76-F996E1C8539E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34067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And </a:t>
            </a:r>
            <a:r>
              <a:rPr lang="de-DE" dirty="0" err="1"/>
              <a:t>finally</a:t>
            </a:r>
            <a:r>
              <a:rPr lang="de-DE" dirty="0"/>
              <a:t> i </a:t>
            </a:r>
            <a:r>
              <a:rPr lang="de-DE" dirty="0" err="1"/>
              <a:t>wanted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estimate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minimum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introduced</a:t>
            </a:r>
            <a:r>
              <a:rPr lang="de-DE" dirty="0"/>
              <a:t> </a:t>
            </a:r>
            <a:r>
              <a:rPr lang="de-DE" dirty="0" err="1"/>
              <a:t>individuals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introduced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rescue</a:t>
            </a:r>
            <a:r>
              <a:rPr lang="de-DE" dirty="0"/>
              <a:t> </a:t>
            </a:r>
            <a:r>
              <a:rPr lang="de-DE" dirty="0" err="1"/>
              <a:t>population</a:t>
            </a:r>
            <a:r>
              <a:rPr lang="de-DE" dirty="0"/>
              <a:t> (1000 sims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) </a:t>
            </a:r>
            <a:r>
              <a:rPr lang="de-DE" dirty="0" err="1"/>
              <a:t>with</a:t>
            </a:r>
            <a:r>
              <a:rPr lang="de-DE" dirty="0"/>
              <a:t> &gt;80% </a:t>
            </a:r>
            <a:r>
              <a:rPr lang="de-DE" dirty="0" err="1"/>
              <a:t>probability</a:t>
            </a:r>
            <a:r>
              <a:rPr lang="de-DE" dirty="0"/>
              <a:t>.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25. </a:t>
            </a:r>
          </a:p>
          <a:p>
            <a:endParaRPr lang="de-DE" dirty="0"/>
          </a:p>
          <a:p>
            <a:r>
              <a:rPr lang="de-DE" dirty="0"/>
              <a:t>In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case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introduced</a:t>
            </a:r>
            <a:r>
              <a:rPr lang="de-DE" dirty="0"/>
              <a:t> </a:t>
            </a:r>
            <a:r>
              <a:rPr lang="de-DE" dirty="0" err="1"/>
              <a:t>individuals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always</a:t>
            </a:r>
            <a:r>
              <a:rPr lang="de-DE" dirty="0"/>
              <a:t> in a 1:1 </a:t>
            </a:r>
            <a:r>
              <a:rPr lang="de-DE" dirty="0" err="1"/>
              <a:t>ratio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homo and heterozygotes. In </a:t>
            </a:r>
            <a:r>
              <a:rPr lang="de-DE" dirty="0" err="1"/>
              <a:t>case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odd</a:t>
            </a:r>
            <a:r>
              <a:rPr lang="de-DE" dirty="0"/>
              <a:t> </a:t>
            </a:r>
            <a:r>
              <a:rPr lang="de-DE" dirty="0" err="1"/>
              <a:t>numbers</a:t>
            </a:r>
            <a:r>
              <a:rPr lang="de-DE" dirty="0"/>
              <a:t>, heterozygotes </a:t>
            </a:r>
            <a:r>
              <a:rPr lang="de-DE" dirty="0" err="1"/>
              <a:t>got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edge</a:t>
            </a:r>
            <a:r>
              <a:rPr lang="de-DE" dirty="0"/>
              <a:t>, </a:t>
            </a:r>
            <a:r>
              <a:rPr lang="de-DE" dirty="0" err="1"/>
              <a:t>meaning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5,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there‘s</a:t>
            </a:r>
            <a:r>
              <a:rPr lang="de-DE" dirty="0"/>
              <a:t> 3 Aa and 2 AA. </a:t>
            </a:r>
            <a:r>
              <a:rPr lang="de-DE" dirty="0" err="1"/>
              <a:t>Demographic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 </a:t>
            </a:r>
            <a:r>
              <a:rPr lang="de-DE" dirty="0" err="1"/>
              <a:t>apply</a:t>
            </a:r>
            <a:r>
              <a:rPr lang="de-DE" dirty="0"/>
              <a:t> </a:t>
            </a:r>
            <a:r>
              <a:rPr lang="de-DE" dirty="0" err="1"/>
              <a:t>asin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2nd </a:t>
            </a:r>
            <a:r>
              <a:rPr lang="de-DE" dirty="0" err="1"/>
              <a:t>scenario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3 different </a:t>
            </a:r>
            <a:r>
              <a:rPr lang="de-DE" dirty="0" err="1"/>
              <a:t>values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fitness</a:t>
            </a:r>
            <a:r>
              <a:rPr lang="de-DE" dirty="0"/>
              <a:t> and so on. 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431F3-D15C-4DB4-AB76-F996E1C8539E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798346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limitations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? Well,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. Nut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name</a:t>
            </a:r>
            <a:r>
              <a:rPr lang="de-DE" dirty="0"/>
              <a:t> a </a:t>
            </a:r>
            <a:r>
              <a:rPr lang="de-DE" dirty="0" err="1"/>
              <a:t>few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ones</a:t>
            </a:r>
            <a:r>
              <a:rPr lang="de-DE" dirty="0"/>
              <a:t>: 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431F3-D15C-4DB4-AB76-F996E1C8539E}" type="slidenum">
              <a:rPr lang="de-CH" smtClean="0"/>
              <a:t>14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47546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And </a:t>
            </a:r>
            <a:r>
              <a:rPr lang="de-DE" dirty="0" err="1"/>
              <a:t>based</a:t>
            </a:r>
            <a:r>
              <a:rPr lang="de-DE" dirty="0"/>
              <a:t> off </a:t>
            </a:r>
            <a:r>
              <a:rPr lang="de-DE" dirty="0" err="1"/>
              <a:t>that</a:t>
            </a:r>
            <a:r>
              <a:rPr lang="de-DE" dirty="0"/>
              <a:t>,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done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(</a:t>
            </a:r>
            <a:r>
              <a:rPr lang="de-DE" dirty="0" err="1"/>
              <a:t>if</a:t>
            </a:r>
            <a:r>
              <a:rPr lang="de-DE" dirty="0"/>
              <a:t> time </a:t>
            </a:r>
            <a:r>
              <a:rPr lang="de-DE" dirty="0" err="1"/>
              <a:t>is</a:t>
            </a:r>
            <a:r>
              <a:rPr lang="de-DE" dirty="0"/>
              <a:t>/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)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431F3-D15C-4DB4-AB76-F996E1C8539E}" type="slidenum">
              <a:rPr lang="de-CH" smtClean="0"/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89054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C2614A-ACDB-6888-6B85-4E988C9AF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493855-FD6B-EF0A-C2A9-2385DEF79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21DFC1-77D0-DE06-9A2A-009162544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958EB-06F9-44A9-9517-5E7922C114C0}" type="datetimeFigureOut">
              <a:rPr lang="de-CH" smtClean="0"/>
              <a:t>21.11.2025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CD396E-8A12-165C-9D40-41413A9A7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0F38F5-C866-D386-E0A5-1C67DA5C3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A970-ECC8-45DB-B101-DCAB807E152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94255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E631B2-0C26-7B2B-29F5-D407580C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792094-59E6-6E8A-6916-697302269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75E803-D62B-B2AD-75F1-A8877230A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958EB-06F9-44A9-9517-5E7922C114C0}" type="datetimeFigureOut">
              <a:rPr lang="de-CH" smtClean="0"/>
              <a:t>21.11.2025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46C16E-1A18-DD9A-D542-B41FC6D2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2FC437-2934-776D-F3A3-3683EAD7D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A970-ECC8-45DB-B101-DCAB807E152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44662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C9828B-7E01-9F06-6D3E-B635593C7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F70FA3-DC72-E787-E5F6-764BCD51A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A04840-A972-FBC1-5369-02DB05F4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958EB-06F9-44A9-9517-5E7922C114C0}" type="datetimeFigureOut">
              <a:rPr lang="de-CH" smtClean="0"/>
              <a:t>21.11.2025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DBDCF7-523D-4636-DC7B-12009804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60823C-DFCE-1F02-7724-87A93038D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A970-ECC8-45DB-B101-DCAB807E152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5367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399B3-0322-B32F-19EE-4537B0BC2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1492CC-17F7-7155-719A-E9AE3E023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2AFF8D7-AF52-5BA4-9362-CD7A97235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407724-3A8A-E509-1C78-8514B47A0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958EB-06F9-44A9-9517-5E7922C114C0}" type="datetimeFigureOut">
              <a:rPr lang="de-CH" smtClean="0"/>
              <a:t>21.11.2025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300B84-7EFE-697A-2DB3-14D1B715D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248A15D-78C2-377E-467D-733CDF36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A970-ECC8-45DB-B101-DCAB807E152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07425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CA431E-AFB5-6801-7118-FDC2B7230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75070C8-DF02-C076-CB67-9BBBE4E23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39FEB6C-24AC-B482-75F4-A1F3C8585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F36822F-9287-97E6-4D88-5BF8BE282E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766F5F4-223A-FFAD-25DC-93B8AB79C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BB6EA27-B122-7E7E-3101-9780D4894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958EB-06F9-44A9-9517-5E7922C114C0}" type="datetimeFigureOut">
              <a:rPr lang="de-CH" smtClean="0"/>
              <a:t>21.11.2025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D7CE706-2B2A-F27D-89AE-AA9350AD3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56FC454-CDEC-AEAC-45EB-5D6BD66C7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A970-ECC8-45DB-B101-DCAB807E152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08848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527876-38B4-65B9-84EA-91EDA4E84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B3A1B33-9711-9449-B090-90AD599BB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958EB-06F9-44A9-9517-5E7922C114C0}" type="datetimeFigureOut">
              <a:rPr lang="de-CH" smtClean="0"/>
              <a:t>21.11.2025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2A02FD-9C4F-D4F0-3CB7-96E1DD3B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5B3FF4-B28C-8137-1B55-52118D5F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A970-ECC8-45DB-B101-DCAB807E152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5177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7E39326-9B9E-104F-499F-486761D2B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958EB-06F9-44A9-9517-5E7922C114C0}" type="datetimeFigureOut">
              <a:rPr lang="de-CH" smtClean="0"/>
              <a:t>21.11.2025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4EB2807-5041-EFC3-0C60-ADFDB1B59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604787-7451-3B76-A0B0-646106EE4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A970-ECC8-45DB-B101-DCAB807E152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52407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3A616B-70E2-3D9E-5CFA-E1946A44D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CC8154-D36E-4DB4-411E-A8C9544D6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CBC391-39D0-7E2D-221B-12BFE276B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2A64F62-DB5E-260E-841F-CB84344B1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958EB-06F9-44A9-9517-5E7922C114C0}" type="datetimeFigureOut">
              <a:rPr lang="de-CH" smtClean="0"/>
              <a:t>21.11.2025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1002263-0B89-0A5B-6DA8-ECF25E143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E483E9-48B7-63CC-9F26-6F2F38D8A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A970-ECC8-45DB-B101-DCAB807E152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24560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467432-FB61-6599-982E-56D74263C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E29596A-7C89-78B6-55C4-D34280FF5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E252C62-CA19-8B3B-2D8B-04D686B56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75F779-9F2C-7150-36BB-94BF879BC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958EB-06F9-44A9-9517-5E7922C114C0}" type="datetimeFigureOut">
              <a:rPr lang="de-CH" smtClean="0"/>
              <a:t>21.11.2025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076B81-15F1-1C31-B451-FC17BBD55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968ECE-14FF-FD24-0404-F865B082E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A970-ECC8-45DB-B101-DCAB807E152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29381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053394-B27B-758B-F912-E53F017C3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AA968E0-64AF-C7A3-47AE-4C9F001DE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E9E550-9D59-C74B-AD01-8888964E1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958EB-06F9-44A9-9517-5E7922C114C0}" type="datetimeFigureOut">
              <a:rPr lang="de-CH" smtClean="0"/>
              <a:t>21.11.2025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E2FDCF-755D-F8CC-FC3F-A66E89A7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2B5C00-1324-98D0-7AA1-A5CDC648B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A970-ECC8-45DB-B101-DCAB807E152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02969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2632BF0-FA9C-5E5D-70FB-B27DED7475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C09CD49-92BF-77A9-0A33-F31FB20FF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947FCC-5CEA-3930-C967-E0C2436A7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958EB-06F9-44A9-9517-5E7922C114C0}" type="datetimeFigureOut">
              <a:rPr lang="de-CH" smtClean="0"/>
              <a:t>21.11.2025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F10198-BC38-AFC7-637F-7832750F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FED850-A8FB-2D45-4DD5-7661CB5A0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A970-ECC8-45DB-B101-DCAB807E152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5671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6D95583-1993-A2E7-6DF9-253BB9618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82D65F-1A3B-D19B-8A57-5342AAFC2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2CD26E-9373-1108-EAE1-05F8F8CFB2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1958EB-06F9-44A9-9517-5E7922C114C0}" type="datetimeFigureOut">
              <a:rPr lang="de-CH" smtClean="0"/>
              <a:t>21.11.2025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564980-21C4-63C3-6EEF-F3AE9C7F6D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E2A0A3-7DF3-CCC2-16D4-A89FE09EE6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3A970-ECC8-45DB-B101-DCAB807E152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415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C9A367-C8AB-3112-1EE4-69B3F92F2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32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Evolutionary Rescue in Conservation: A Theoretical Model inspired by the Iberian Lynx (</a:t>
            </a:r>
            <a:r>
              <a:rPr lang="en-US" i="1" dirty="0"/>
              <a:t>Lynx </a:t>
            </a:r>
            <a:r>
              <a:rPr lang="en-US" i="1" dirty="0" err="1"/>
              <a:t>pardinus</a:t>
            </a:r>
            <a:r>
              <a:rPr lang="en-US" dirty="0"/>
              <a:t>)</a:t>
            </a:r>
            <a:r>
              <a:rPr lang="de-DE" dirty="0"/>
              <a:t> 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38F75-552E-10FA-707C-34A312BE3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dirty="0"/>
              <a:t>THEE Research Practical</a:t>
            </a:r>
          </a:p>
          <a:p>
            <a:r>
              <a:rPr lang="en-US" dirty="0"/>
              <a:t>Damian Vogt</a:t>
            </a:r>
          </a:p>
          <a:p>
            <a:r>
              <a:rPr lang="en-US" dirty="0"/>
              <a:t>24.11.2025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56439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3E372B-5115-C1AE-CBE9-E4B21A7AC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Contents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86265F-E0ED-9814-D244-D660C27AC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Model Graph (Life </a:t>
            </a:r>
            <a:r>
              <a:rPr lang="de-DE" dirty="0" err="1"/>
              <a:t>cycle</a:t>
            </a:r>
            <a:r>
              <a:rPr lang="de-DE" dirty="0"/>
              <a:t>)</a:t>
            </a:r>
          </a:p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?</a:t>
            </a:r>
          </a:p>
          <a:p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interesting</a:t>
            </a:r>
            <a:r>
              <a:rPr lang="de-DE" dirty="0"/>
              <a:t>?</a:t>
            </a:r>
          </a:p>
          <a:p>
            <a:r>
              <a:rPr lang="de-DE" dirty="0"/>
              <a:t>Methods, Variables and Parameters</a:t>
            </a:r>
          </a:p>
          <a:p>
            <a:r>
              <a:rPr lang="de-DE" dirty="0" err="1"/>
              <a:t>Results</a:t>
            </a:r>
            <a:r>
              <a:rPr lang="de-DE" dirty="0"/>
              <a:t> and Interpretation</a:t>
            </a:r>
          </a:p>
          <a:p>
            <a:r>
              <a:rPr lang="de-DE" dirty="0" err="1"/>
              <a:t>Limitations</a:t>
            </a:r>
            <a:r>
              <a:rPr lang="de-DE" dirty="0"/>
              <a:t> and Outlook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96363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1DC92-041B-CD7B-6F73-D1A0028C9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A027A-00CC-91AA-0A4D-FF1682CE7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Life Cycle (non-</a:t>
            </a:r>
            <a:r>
              <a:rPr lang="de-DE" dirty="0" err="1"/>
              <a:t>panmictic</a:t>
            </a:r>
            <a:r>
              <a:rPr lang="de-DE" dirty="0"/>
              <a:t>)</a:t>
            </a:r>
            <a:endParaRPr lang="de-CH" dirty="0"/>
          </a:p>
        </p:txBody>
      </p:sp>
      <p:pic>
        <p:nvPicPr>
          <p:cNvPr id="9" name="Inhaltsplatzhalter 8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E9E5C6BF-C558-EDE4-A17C-6FC1B8722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38"/>
          <a:stretch>
            <a:fillRect/>
          </a:stretch>
        </p:blipFill>
        <p:spPr>
          <a:xfrm>
            <a:off x="395287" y="2480929"/>
            <a:ext cx="9820275" cy="4011946"/>
          </a:xfrm>
        </p:spPr>
      </p:pic>
    </p:spTree>
    <p:extLst>
      <p:ext uri="{BB962C8B-B14F-4D97-AF65-F5344CB8AC3E}">
        <p14:creationId xmlns:p14="http://schemas.microsoft.com/office/powerpoint/2010/main" val="1813689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2BABD-139C-ACA4-FD72-00635F6CC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66782F-1017-F176-1611-0BBF9C742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Life Cycle (</a:t>
            </a:r>
            <a:r>
              <a:rPr lang="de-DE" dirty="0" err="1"/>
              <a:t>panmictic</a:t>
            </a:r>
            <a:r>
              <a:rPr lang="de-DE" dirty="0"/>
              <a:t>, diploid) </a:t>
            </a:r>
            <a:endParaRPr lang="de-CH" dirty="0"/>
          </a:p>
        </p:txBody>
      </p:sp>
      <p:pic>
        <p:nvPicPr>
          <p:cNvPr id="5" name="Inhaltsplatzhalter 4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245D44DD-A7A7-BAB3-6BBC-F0F746BC4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9"/>
          <a:stretch>
            <a:fillRect/>
          </a:stretch>
        </p:blipFill>
        <p:spPr>
          <a:xfrm>
            <a:off x="838199" y="1325563"/>
            <a:ext cx="8462963" cy="5485180"/>
          </a:xfrm>
        </p:spPr>
      </p:pic>
    </p:spTree>
    <p:extLst>
      <p:ext uri="{BB962C8B-B14F-4D97-AF65-F5344CB8AC3E}">
        <p14:creationId xmlns:p14="http://schemas.microsoft.com/office/powerpoint/2010/main" val="3405064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Iberian lynxes have less deleterious mutations than other lynx species due  to the small size of their population | Estación Biológica de Doñana - CSIC">
            <a:extLst>
              <a:ext uri="{FF2B5EF4-FFF2-40B4-BE49-F238E27FC236}">
                <a16:creationId xmlns:a16="http://schemas.microsoft.com/office/drawing/2014/main" id="{74A3BA8A-A34E-0CEF-7D15-A36050EA1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56" b="3775"/>
          <a:stretch>
            <a:fillRect/>
          </a:stretch>
        </p:blipFill>
        <p:spPr bwMode="auto">
          <a:xfrm>
            <a:off x="-1" y="10"/>
            <a:ext cx="1219200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7583171-AD5A-4B34-6596-4B9A3CD0A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71570"/>
            <a:ext cx="5155261" cy="4072044"/>
          </a:xfrm>
        </p:spPr>
        <p:txBody>
          <a:bodyPr anchor="t">
            <a:normAutofit/>
          </a:bodyPr>
          <a:lstStyle/>
          <a:p>
            <a:r>
              <a:rPr lang="de-DE" dirty="0" err="1">
                <a:solidFill>
                  <a:srgbClr val="FFFFFF"/>
                </a:solidFill>
              </a:rPr>
              <a:t>What</a:t>
            </a:r>
            <a:r>
              <a:rPr lang="de-DE" dirty="0">
                <a:solidFill>
                  <a:srgbClr val="FFFFFF"/>
                </a:solidFill>
              </a:rPr>
              <a:t> </a:t>
            </a:r>
            <a:r>
              <a:rPr lang="de-DE" dirty="0" err="1">
                <a:solidFill>
                  <a:srgbClr val="FFFFFF"/>
                </a:solidFill>
              </a:rPr>
              <a:t>is</a:t>
            </a:r>
            <a:r>
              <a:rPr lang="de-DE" dirty="0">
                <a:solidFill>
                  <a:srgbClr val="FFFFFF"/>
                </a:solidFill>
              </a:rPr>
              <a:t> </a:t>
            </a:r>
            <a:r>
              <a:rPr lang="de-DE" dirty="0" err="1">
                <a:solidFill>
                  <a:srgbClr val="FFFFFF"/>
                </a:solidFill>
              </a:rPr>
              <a:t>this</a:t>
            </a:r>
            <a:r>
              <a:rPr lang="de-DE" dirty="0">
                <a:solidFill>
                  <a:srgbClr val="FFFFFF"/>
                </a:solidFill>
              </a:rPr>
              <a:t> </a:t>
            </a:r>
            <a:r>
              <a:rPr lang="de-DE" dirty="0" err="1">
                <a:solidFill>
                  <a:srgbClr val="FFFFFF"/>
                </a:solidFill>
              </a:rPr>
              <a:t>model</a:t>
            </a:r>
            <a:r>
              <a:rPr lang="de-DE" dirty="0">
                <a:solidFill>
                  <a:srgbClr val="FFFFFF"/>
                </a:solidFill>
              </a:rPr>
              <a:t> </a:t>
            </a:r>
            <a:r>
              <a:rPr lang="de-DE" dirty="0" err="1">
                <a:solidFill>
                  <a:srgbClr val="FFFFFF"/>
                </a:solidFill>
              </a:rPr>
              <a:t>about</a:t>
            </a:r>
            <a:r>
              <a:rPr lang="de-DE" dirty="0">
                <a:solidFill>
                  <a:srgbClr val="FFFFFF"/>
                </a:solidFill>
              </a:rPr>
              <a:t>?</a:t>
            </a:r>
            <a:endParaRPr lang="de-CH" dirty="0">
              <a:solidFill>
                <a:srgbClr val="FFFFFF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6553F4-194A-FF3D-BC41-E9A3DB86B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5986" y="1671566"/>
            <a:ext cx="5170861" cy="4072043"/>
          </a:xfrm>
        </p:spPr>
        <p:txBody>
          <a:bodyPr>
            <a:normAutofit/>
          </a:bodyPr>
          <a:lstStyle/>
          <a:p>
            <a:r>
              <a:rPr lang="de-DE" sz="1900">
                <a:solidFill>
                  <a:srgbClr val="FFFFFF"/>
                </a:solidFill>
              </a:rPr>
              <a:t> Possible Scenarios of evolutionary rescue by initial mutant introduction</a:t>
            </a:r>
          </a:p>
          <a:p>
            <a:r>
              <a:rPr lang="de-DE" sz="1900">
                <a:solidFill>
                  <a:srgbClr val="FFFFFF"/>
                </a:solidFill>
              </a:rPr>
              <a:t>Orientation on real-life example of Iberian Lynx</a:t>
            </a:r>
          </a:p>
          <a:p>
            <a:r>
              <a:rPr lang="de-DE" sz="1900">
                <a:solidFill>
                  <a:srgbClr val="FFFFFF"/>
                </a:solidFill>
              </a:rPr>
              <a:t>Conservation: extensive ex-situ breeding programs, long-living and repeated reintroductions to wild populations</a:t>
            </a:r>
          </a:p>
          <a:p>
            <a:r>
              <a:rPr lang="de-DE" sz="1900">
                <a:solidFill>
                  <a:srgbClr val="FFFFFF"/>
                </a:solidFill>
              </a:rPr>
              <a:t>Questions: How do extinction probabilities vary under fitness-plasticity or strength of environmental fluctuation? </a:t>
            </a:r>
          </a:p>
          <a:p>
            <a:r>
              <a:rPr lang="de-DE" sz="1900">
                <a:solidFill>
                  <a:srgbClr val="FFFFFF"/>
                </a:solidFill>
              </a:rPr>
              <a:t>What is the minimal  Introduction number so Population recovers by evolutionary rescue?</a:t>
            </a:r>
          </a:p>
          <a:p>
            <a:pPr marL="0" indent="0">
              <a:buNone/>
            </a:pPr>
            <a:endParaRPr lang="de-CH" sz="1900">
              <a:solidFill>
                <a:srgbClr val="FFFFFF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27B0752-6F3B-C893-D7B2-CDB18AA291F6}"/>
              </a:ext>
            </a:extLst>
          </p:cNvPr>
          <p:cNvSpPr txBox="1"/>
          <p:nvPr/>
        </p:nvSpPr>
        <p:spPr>
          <a:xfrm>
            <a:off x="257175" y="6332567"/>
            <a:ext cx="8297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>
                    <a:lumMod val="95000"/>
                  </a:schemeClr>
                </a:solidFill>
              </a:rPr>
              <a:t>Picture source: https://www.ebd.csic.es/sites/default/files/imagenes/2025-07/20220301_linceiberico.jpg</a:t>
            </a:r>
            <a:endParaRPr lang="de-CH" sz="1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842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1CD969-4296-148D-0932-5DB884A9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an </a:t>
            </a:r>
            <a:r>
              <a:rPr lang="de-DE" dirty="0" err="1"/>
              <a:t>interesting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?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C5D6C4-1AE0-6DF0-56CD-61E81A72E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Biological/</a:t>
            </a:r>
            <a:r>
              <a:rPr lang="de-DE" dirty="0" err="1"/>
              <a:t>conservational</a:t>
            </a:r>
            <a:r>
              <a:rPr lang="de-DE" dirty="0"/>
              <a:t> </a:t>
            </a:r>
            <a:r>
              <a:rPr lang="de-DE" dirty="0" err="1"/>
              <a:t>relevance</a:t>
            </a:r>
            <a:endParaRPr lang="de-DE" dirty="0"/>
          </a:p>
          <a:p>
            <a:r>
              <a:rPr lang="de-DE" dirty="0" err="1"/>
              <a:t>Conservation</a:t>
            </a:r>
            <a:r>
              <a:rPr lang="de-DE" dirty="0"/>
              <a:t> </a:t>
            </a:r>
            <a:r>
              <a:rPr lang="de-DE" dirty="0" err="1"/>
              <a:t>approaches</a:t>
            </a:r>
            <a:r>
              <a:rPr lang="de-DE" dirty="0"/>
              <a:t>: extensive, </a:t>
            </a:r>
            <a:r>
              <a:rPr lang="de-DE" dirty="0" err="1"/>
              <a:t>resource-intense</a:t>
            </a:r>
            <a:r>
              <a:rPr lang="de-DE" dirty="0"/>
              <a:t>, </a:t>
            </a:r>
            <a:r>
              <a:rPr lang="de-DE" dirty="0" err="1"/>
              <a:t>repeated</a:t>
            </a:r>
            <a:r>
              <a:rPr lang="de-DE" dirty="0"/>
              <a:t> </a:t>
            </a:r>
            <a:r>
              <a:rPr lang="de-DE" dirty="0" err="1"/>
              <a:t>interventions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ecosystem</a:t>
            </a:r>
            <a:r>
              <a:rPr lang="de-DE" dirty="0"/>
              <a:t> and </a:t>
            </a:r>
            <a:r>
              <a:rPr lang="de-DE" dirty="0" err="1"/>
              <a:t>population</a:t>
            </a:r>
            <a:r>
              <a:rPr lang="de-DE" dirty="0"/>
              <a:t> </a:t>
            </a:r>
            <a:r>
              <a:rPr lang="de-DE" dirty="0" err="1"/>
              <a:t>dynamics</a:t>
            </a:r>
            <a:r>
              <a:rPr lang="de-DE" dirty="0"/>
              <a:t> (</a:t>
            </a:r>
            <a:r>
              <a:rPr lang="de-DE" dirty="0" err="1"/>
              <a:t>ethical</a:t>
            </a:r>
            <a:r>
              <a:rPr lang="de-DE" dirty="0"/>
              <a:t> </a:t>
            </a:r>
            <a:r>
              <a:rPr lang="de-DE" dirty="0" err="1"/>
              <a:t>concerns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ex-situ </a:t>
            </a:r>
            <a:r>
              <a:rPr lang="de-DE" dirty="0" err="1"/>
              <a:t>breeding</a:t>
            </a:r>
            <a:r>
              <a:rPr lang="de-DE" dirty="0"/>
              <a:t>?)</a:t>
            </a:r>
          </a:p>
          <a:p>
            <a:r>
              <a:rPr lang="de-DE" dirty="0" err="1"/>
              <a:t>Especially</a:t>
            </a:r>
            <a:r>
              <a:rPr lang="de-DE" dirty="0"/>
              <a:t> in </a:t>
            </a:r>
            <a:r>
              <a:rPr lang="de-DE" dirty="0" err="1"/>
              <a:t>highly</a:t>
            </a:r>
            <a:r>
              <a:rPr lang="de-DE" dirty="0"/>
              <a:t> </a:t>
            </a:r>
            <a:r>
              <a:rPr lang="de-DE" dirty="0" err="1"/>
              <a:t>endangered</a:t>
            </a:r>
            <a:r>
              <a:rPr lang="de-DE" dirty="0"/>
              <a:t> </a:t>
            </a:r>
            <a:r>
              <a:rPr lang="de-DE" dirty="0" err="1"/>
              <a:t>species</a:t>
            </a:r>
            <a:r>
              <a:rPr lang="de-DE" dirty="0"/>
              <a:t>/</a:t>
            </a:r>
            <a:r>
              <a:rPr lang="de-DE" dirty="0" err="1"/>
              <a:t>populations</a:t>
            </a:r>
            <a:r>
              <a:rPr lang="de-DE" dirty="0"/>
              <a:t>  </a:t>
            </a:r>
          </a:p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evolutionary</a:t>
            </a:r>
            <a:r>
              <a:rPr lang="de-DE" dirty="0"/>
              <a:t> </a:t>
            </a:r>
            <a:r>
              <a:rPr lang="de-DE" dirty="0" err="1"/>
              <a:t>rescue</a:t>
            </a:r>
            <a:r>
              <a:rPr lang="de-DE" dirty="0"/>
              <a:t> </a:t>
            </a:r>
            <a:r>
              <a:rPr lang="de-DE" dirty="0" err="1"/>
              <a:t>help</a:t>
            </a:r>
            <a:r>
              <a:rPr lang="de-DE" dirty="0"/>
              <a:t> </a:t>
            </a:r>
            <a:r>
              <a:rPr lang="de-DE" dirty="0" err="1"/>
              <a:t>population</a:t>
            </a:r>
            <a:r>
              <a:rPr lang="de-DE" dirty="0"/>
              <a:t> </a:t>
            </a:r>
            <a:r>
              <a:rPr lang="de-DE" dirty="0" err="1"/>
              <a:t>recovery</a:t>
            </a:r>
            <a:r>
              <a:rPr lang="de-DE" dirty="0"/>
              <a:t>?</a:t>
            </a:r>
          </a:p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role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environmental </a:t>
            </a:r>
            <a:r>
              <a:rPr lang="de-DE" dirty="0" err="1"/>
              <a:t>stochasticity</a:t>
            </a:r>
            <a:r>
              <a:rPr lang="de-DE" dirty="0"/>
              <a:t> in </a:t>
            </a:r>
            <a:r>
              <a:rPr lang="de-DE" dirty="0" err="1"/>
              <a:t>recovery</a:t>
            </a:r>
            <a:r>
              <a:rPr lang="de-DE" dirty="0"/>
              <a:t> and </a:t>
            </a:r>
            <a:r>
              <a:rPr lang="de-DE" dirty="0" err="1"/>
              <a:t>population</a:t>
            </a:r>
            <a:r>
              <a:rPr lang="de-DE" dirty="0"/>
              <a:t> </a:t>
            </a:r>
            <a:r>
              <a:rPr lang="de-DE" dirty="0" err="1"/>
              <a:t>trajectory</a:t>
            </a:r>
            <a:r>
              <a:rPr lang="de-DE" dirty="0"/>
              <a:t>?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6904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99E3B1-02FF-22AE-4D17-4CD68F2AD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Parameters and Values</a:t>
            </a:r>
            <a:endParaRPr lang="de-CH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77B5EAA4-E537-75C7-0F72-3A46CF2191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3977502"/>
              </p:ext>
            </p:extLst>
          </p:nvPr>
        </p:nvGraphicFramePr>
        <p:xfrm>
          <a:off x="517358" y="1473202"/>
          <a:ext cx="10836443" cy="4432644"/>
        </p:xfrm>
        <a:graphic>
          <a:graphicData uri="http://schemas.openxmlformats.org/drawingml/2006/table">
            <a:tbl>
              <a:tblPr bandRow="1" bandCol="1">
                <a:tableStyleId>{5C22544A-7EE6-4342-B048-85BDC9FD1C3A}</a:tableStyleId>
              </a:tblPr>
              <a:tblGrid>
                <a:gridCol w="914558">
                  <a:extLst>
                    <a:ext uri="{9D8B030D-6E8A-4147-A177-3AD203B41FA5}">
                      <a16:colId xmlns:a16="http://schemas.microsoft.com/office/drawing/2014/main" val="418539477"/>
                    </a:ext>
                  </a:extLst>
                </a:gridCol>
                <a:gridCol w="1984377">
                  <a:extLst>
                    <a:ext uri="{9D8B030D-6E8A-4147-A177-3AD203B41FA5}">
                      <a16:colId xmlns:a16="http://schemas.microsoft.com/office/drawing/2014/main" val="3510884969"/>
                    </a:ext>
                  </a:extLst>
                </a:gridCol>
                <a:gridCol w="1984377">
                  <a:extLst>
                    <a:ext uri="{9D8B030D-6E8A-4147-A177-3AD203B41FA5}">
                      <a16:colId xmlns:a16="http://schemas.microsoft.com/office/drawing/2014/main" val="598399224"/>
                    </a:ext>
                  </a:extLst>
                </a:gridCol>
                <a:gridCol w="1984377">
                  <a:extLst>
                    <a:ext uri="{9D8B030D-6E8A-4147-A177-3AD203B41FA5}">
                      <a16:colId xmlns:a16="http://schemas.microsoft.com/office/drawing/2014/main" val="3707271077"/>
                    </a:ext>
                  </a:extLst>
                </a:gridCol>
                <a:gridCol w="1984377">
                  <a:extLst>
                    <a:ext uri="{9D8B030D-6E8A-4147-A177-3AD203B41FA5}">
                      <a16:colId xmlns:a16="http://schemas.microsoft.com/office/drawing/2014/main" val="886522042"/>
                    </a:ext>
                  </a:extLst>
                </a:gridCol>
                <a:gridCol w="1984377">
                  <a:extLst>
                    <a:ext uri="{9D8B030D-6E8A-4147-A177-3AD203B41FA5}">
                      <a16:colId xmlns:a16="http://schemas.microsoft.com/office/drawing/2014/main" val="2635667435"/>
                    </a:ext>
                  </a:extLst>
                </a:gridCol>
              </a:tblGrid>
              <a:tr h="757239">
                <a:tc>
                  <a:txBody>
                    <a:bodyPr/>
                    <a:lstStyle/>
                    <a:p>
                      <a:r>
                        <a:rPr lang="de-DE" sz="1100" b="1" dirty="0">
                          <a:solidFill>
                            <a:schemeClr val="tx1"/>
                          </a:solidFill>
                        </a:rPr>
                        <a:t>N(a):</a:t>
                      </a:r>
                      <a:endParaRPr lang="de-CH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Wildtype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population</a:t>
                      </a:r>
                      <a:endParaRPr lang="de-CH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 dirty="0" err="1">
                          <a:solidFill>
                            <a:schemeClr val="tx1"/>
                          </a:solidFill>
                        </a:rPr>
                        <a:t>Dens</a:t>
                      </a:r>
                      <a:r>
                        <a:rPr lang="de-DE" sz="1100" b="1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de-CH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Density </a:t>
                      </a: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dependence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effect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on total </a:t>
                      </a: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population</a:t>
                      </a:r>
                      <a:endParaRPr lang="de-CH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 dirty="0">
                          <a:solidFill>
                            <a:schemeClr val="tx1"/>
                          </a:solidFill>
                        </a:rPr>
                        <a:t>R(a):</a:t>
                      </a:r>
                      <a:endParaRPr lang="de-CH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Expected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mean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population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growth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(„Lambda“) </a:t>
                      </a: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Wildtype</a:t>
                      </a:r>
                      <a:endParaRPr lang="de-CH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564130"/>
                  </a:ext>
                </a:extLst>
              </a:tr>
              <a:tr h="331292">
                <a:tc>
                  <a:txBody>
                    <a:bodyPr/>
                    <a:lstStyle/>
                    <a:p>
                      <a:r>
                        <a:rPr lang="de-DE" sz="1100" b="1" dirty="0"/>
                        <a:t>N(A):</a:t>
                      </a:r>
                      <a:endParaRPr lang="de-CH" sz="11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Mutant </a:t>
                      </a:r>
                      <a:r>
                        <a:rPr lang="de-DE" sz="1100" dirty="0" err="1"/>
                        <a:t>population</a:t>
                      </a:r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 dirty="0"/>
                        <a:t>Allee:</a:t>
                      </a:r>
                      <a:endParaRPr lang="de-CH" sz="11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Allee-</a:t>
                      </a:r>
                      <a:r>
                        <a:rPr lang="de-DE" sz="1100" dirty="0" err="1"/>
                        <a:t>effect</a:t>
                      </a:r>
                      <a:r>
                        <a:rPr lang="de-DE" sz="1100" dirty="0"/>
                        <a:t> on total </a:t>
                      </a:r>
                      <a:r>
                        <a:rPr lang="de-DE" sz="1100" dirty="0" err="1"/>
                        <a:t>population</a:t>
                      </a:r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 dirty="0"/>
                        <a:t>R(A):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Expected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mean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population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growth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Mutant</a:t>
                      </a:r>
                      <a:endParaRPr lang="de-CH" sz="11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163271"/>
                  </a:ext>
                </a:extLst>
              </a:tr>
              <a:tr h="473275">
                <a:tc>
                  <a:txBody>
                    <a:bodyPr/>
                    <a:lstStyle/>
                    <a:p>
                      <a:r>
                        <a:rPr lang="de-DE" sz="1100" b="1" dirty="0"/>
                        <a:t>N(Aa):</a:t>
                      </a:r>
                      <a:endParaRPr lang="de-CH" sz="11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Heterozygote </a:t>
                      </a:r>
                      <a:r>
                        <a:rPr lang="de-DE" sz="1100" dirty="0" err="1"/>
                        <a:t>population</a:t>
                      </a:r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 dirty="0" err="1"/>
                        <a:t>Sigma_env</a:t>
                      </a:r>
                      <a:r>
                        <a:rPr lang="de-DE" sz="1100" b="1" dirty="0"/>
                        <a:t>(a):</a:t>
                      </a:r>
                      <a:endParaRPr lang="de-CH" sz="11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SD </a:t>
                      </a:r>
                      <a:r>
                        <a:rPr lang="de-DE" sz="1100" dirty="0" err="1"/>
                        <a:t>of</a:t>
                      </a:r>
                      <a:r>
                        <a:rPr lang="de-DE" sz="1100" dirty="0"/>
                        <a:t> environmental </a:t>
                      </a:r>
                      <a:r>
                        <a:rPr lang="de-DE" sz="1100" dirty="0" err="1"/>
                        <a:t>stochasticity</a:t>
                      </a:r>
                      <a:r>
                        <a:rPr lang="de-DE" sz="1100" dirty="0"/>
                        <a:t> </a:t>
                      </a:r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 dirty="0"/>
                        <a:t>R(Aa):</a:t>
                      </a:r>
                      <a:endParaRPr lang="de-CH" sz="11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Expected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mean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population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growth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(„Lambda“) </a:t>
                      </a:r>
                      <a:r>
                        <a:rPr lang="de-DE" sz="1100" b="0" dirty="0" err="1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de-DE" sz="1100" b="0" dirty="0">
                          <a:solidFill>
                            <a:schemeClr val="tx1"/>
                          </a:solidFill>
                        </a:rPr>
                        <a:t> Heterozygote</a:t>
                      </a:r>
                      <a:endParaRPr lang="de-CH" sz="11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298735"/>
                  </a:ext>
                </a:extLst>
              </a:tr>
              <a:tr h="615257">
                <a:tc>
                  <a:txBody>
                    <a:bodyPr/>
                    <a:lstStyle/>
                    <a:p>
                      <a:r>
                        <a:rPr lang="de-DE" sz="1100" b="1" dirty="0"/>
                        <a:t>N(tot):</a:t>
                      </a:r>
                      <a:endParaRPr lang="de-CH" sz="11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Total </a:t>
                      </a:r>
                      <a:r>
                        <a:rPr lang="de-DE" sz="1100" dirty="0" err="1"/>
                        <a:t>population</a:t>
                      </a:r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 dirty="0" err="1"/>
                        <a:t>Sigma_env</a:t>
                      </a:r>
                      <a:r>
                        <a:rPr lang="de-DE" sz="1100" b="1" dirty="0"/>
                        <a:t>(A):</a:t>
                      </a:r>
                      <a:endParaRPr lang="de-CH" sz="11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/>
                        <a:t>SD </a:t>
                      </a:r>
                      <a:r>
                        <a:rPr lang="de-DE" sz="1100" dirty="0" err="1"/>
                        <a:t>of</a:t>
                      </a:r>
                      <a:r>
                        <a:rPr lang="de-DE" sz="1100" dirty="0"/>
                        <a:t> environmental </a:t>
                      </a:r>
                      <a:r>
                        <a:rPr lang="de-DE" sz="1100" dirty="0" err="1"/>
                        <a:t>stochasticity</a:t>
                      </a:r>
                      <a:r>
                        <a:rPr lang="de-DE" sz="1100" dirty="0"/>
                        <a:t> </a:t>
                      </a:r>
                      <a:endParaRPr lang="de-CH" sz="1100" dirty="0"/>
                    </a:p>
                    <a:p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 dirty="0"/>
                        <a:t>A:</a:t>
                      </a:r>
                      <a:endParaRPr lang="de-CH" sz="11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Allee-parameter</a:t>
                      </a:r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327467"/>
                  </a:ext>
                </a:extLst>
              </a:tr>
              <a:tr h="615257">
                <a:tc>
                  <a:txBody>
                    <a:bodyPr/>
                    <a:lstStyle/>
                    <a:p>
                      <a:r>
                        <a:rPr lang="de-DE" sz="1100" b="1" dirty="0"/>
                        <a:t>W(a):</a:t>
                      </a:r>
                      <a:endParaRPr lang="de-CH" sz="11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 err="1"/>
                        <a:t>Wildtype</a:t>
                      </a:r>
                      <a:r>
                        <a:rPr lang="de-DE" sz="1100" dirty="0"/>
                        <a:t> </a:t>
                      </a:r>
                      <a:r>
                        <a:rPr lang="de-DE" sz="1100" dirty="0" err="1"/>
                        <a:t>fitness</a:t>
                      </a:r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 dirty="0" err="1"/>
                        <a:t>Sigma_env</a:t>
                      </a:r>
                      <a:r>
                        <a:rPr lang="de-DE" sz="1100" b="1" dirty="0"/>
                        <a:t>(Aa):</a:t>
                      </a:r>
                      <a:endParaRPr lang="de-CH" sz="11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/>
                        <a:t>SD </a:t>
                      </a:r>
                      <a:r>
                        <a:rPr lang="de-DE" sz="1100" dirty="0" err="1"/>
                        <a:t>of</a:t>
                      </a:r>
                      <a:r>
                        <a:rPr lang="de-DE" sz="1100" dirty="0"/>
                        <a:t> environmental </a:t>
                      </a:r>
                      <a:r>
                        <a:rPr lang="de-DE" sz="1100" dirty="0" err="1"/>
                        <a:t>stochasticity</a:t>
                      </a:r>
                      <a:r>
                        <a:rPr lang="de-DE" sz="1100" dirty="0"/>
                        <a:t> </a:t>
                      </a:r>
                      <a:endParaRPr lang="de-CH" sz="1100" dirty="0"/>
                    </a:p>
                    <a:p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 dirty="0"/>
                        <a:t>K:</a:t>
                      </a:r>
                      <a:endParaRPr lang="de-CH" sz="11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 err="1"/>
                        <a:t>Carrying</a:t>
                      </a:r>
                      <a:r>
                        <a:rPr lang="de-DE" sz="1100" dirty="0"/>
                        <a:t> </a:t>
                      </a:r>
                      <a:r>
                        <a:rPr lang="de-DE" sz="1100" dirty="0" err="1"/>
                        <a:t>Capacity</a:t>
                      </a:r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115348"/>
                  </a:ext>
                </a:extLst>
              </a:tr>
              <a:tr h="757239">
                <a:tc>
                  <a:txBody>
                    <a:bodyPr/>
                    <a:lstStyle/>
                    <a:p>
                      <a:r>
                        <a:rPr lang="de-DE" sz="1100" b="1" dirty="0"/>
                        <a:t>W(A):</a:t>
                      </a:r>
                      <a:endParaRPr lang="de-CH" sz="11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Mutant </a:t>
                      </a:r>
                      <a:r>
                        <a:rPr lang="de-DE" sz="1100" dirty="0" err="1"/>
                        <a:t>fitness</a:t>
                      </a:r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 dirty="0" err="1"/>
                        <a:t>Env</a:t>
                      </a:r>
                      <a:r>
                        <a:rPr lang="de-DE" sz="1100" b="1" dirty="0"/>
                        <a:t>:</a:t>
                      </a:r>
                      <a:endParaRPr lang="de-CH" sz="11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Annual </a:t>
                      </a:r>
                      <a:r>
                        <a:rPr lang="de-DE" sz="1100" dirty="0" err="1"/>
                        <a:t>Env</a:t>
                      </a:r>
                      <a:r>
                        <a:rPr lang="de-DE" sz="1100" dirty="0"/>
                        <a:t>. </a:t>
                      </a:r>
                      <a:r>
                        <a:rPr lang="de-DE" sz="1100" dirty="0" err="1"/>
                        <a:t>Stochasticity</a:t>
                      </a:r>
                      <a:r>
                        <a:rPr lang="de-DE" sz="1100" dirty="0"/>
                        <a:t> (</a:t>
                      </a:r>
                      <a:r>
                        <a:rPr lang="de-DE" sz="1100" dirty="0" err="1"/>
                        <a:t>drawn</a:t>
                      </a:r>
                      <a:r>
                        <a:rPr lang="de-DE" sz="1100" dirty="0"/>
                        <a:t> </a:t>
                      </a:r>
                      <a:r>
                        <a:rPr lang="de-DE" sz="1100" dirty="0" err="1"/>
                        <a:t>from</a:t>
                      </a:r>
                      <a:r>
                        <a:rPr lang="de-DE" sz="1100" dirty="0"/>
                        <a:t> normal </a:t>
                      </a:r>
                      <a:r>
                        <a:rPr lang="de-DE" sz="1100" dirty="0" err="1"/>
                        <a:t>distribution</a:t>
                      </a:r>
                      <a:r>
                        <a:rPr lang="de-DE" sz="1100" dirty="0"/>
                        <a:t>)</a:t>
                      </a:r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 dirty="0"/>
                        <a:t>P(a):</a:t>
                      </a:r>
                      <a:endParaRPr lang="de-CH" sz="11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Allele </a:t>
                      </a:r>
                      <a:r>
                        <a:rPr lang="de-DE" sz="1100" dirty="0" err="1"/>
                        <a:t>frequency</a:t>
                      </a:r>
                      <a:r>
                        <a:rPr lang="de-DE" sz="1100" dirty="0"/>
                        <a:t> (a)</a:t>
                      </a:r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182425"/>
                  </a:ext>
                </a:extLst>
              </a:tr>
              <a:tr h="331292">
                <a:tc>
                  <a:txBody>
                    <a:bodyPr/>
                    <a:lstStyle/>
                    <a:p>
                      <a:r>
                        <a:rPr lang="de-DE" sz="1100" b="1" dirty="0"/>
                        <a:t>W(Aa):</a:t>
                      </a:r>
                      <a:endParaRPr lang="de-CH" sz="11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Heterozygote Fitness</a:t>
                      </a:r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 dirty="0" err="1"/>
                        <a:t>Max_gen</a:t>
                      </a:r>
                      <a:r>
                        <a:rPr lang="de-DE" sz="1100" b="1" dirty="0"/>
                        <a:t>:</a:t>
                      </a:r>
                      <a:endParaRPr lang="de-CH" sz="11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Maximum </a:t>
                      </a:r>
                      <a:r>
                        <a:rPr lang="de-DE" sz="1100" dirty="0" err="1"/>
                        <a:t>generation</a:t>
                      </a:r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 dirty="0"/>
                        <a:t>P(A):</a:t>
                      </a:r>
                      <a:endParaRPr lang="de-CH" sz="11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Allele-</a:t>
                      </a:r>
                      <a:r>
                        <a:rPr lang="de-DE" sz="1100" dirty="0" err="1"/>
                        <a:t>frequency</a:t>
                      </a:r>
                      <a:r>
                        <a:rPr lang="de-DE" sz="1100" dirty="0"/>
                        <a:t> (A)</a:t>
                      </a:r>
                      <a:endParaRPr lang="de-CH" sz="11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830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820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97452-1C6A-24EB-D1B3-59AB2EF49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8EFAF2-BAD8-FC4F-264D-F66B85BE9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Simulation </a:t>
            </a:r>
            <a:r>
              <a:rPr lang="de-DE" dirty="0" err="1"/>
              <a:t>of</a:t>
            </a:r>
            <a:r>
              <a:rPr lang="de-DE" dirty="0"/>
              <a:t> non-</a:t>
            </a:r>
            <a:r>
              <a:rPr lang="de-DE" dirty="0" err="1"/>
              <a:t>panmictic</a:t>
            </a:r>
            <a:r>
              <a:rPr lang="de-DE" dirty="0"/>
              <a:t> </a:t>
            </a:r>
            <a:r>
              <a:rPr lang="de-DE" dirty="0" err="1"/>
              <a:t>population</a:t>
            </a:r>
            <a:endParaRPr lang="de-DE" dirty="0"/>
          </a:p>
          <a:p>
            <a:r>
              <a:rPr lang="de-DE" dirty="0"/>
              <a:t>Simulation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panmictic</a:t>
            </a:r>
            <a:r>
              <a:rPr lang="de-DE" dirty="0"/>
              <a:t>-diploid </a:t>
            </a:r>
            <a:r>
              <a:rPr lang="de-DE" dirty="0" err="1"/>
              <a:t>population</a:t>
            </a:r>
            <a:endParaRPr lang="de-DE" dirty="0"/>
          </a:p>
          <a:p>
            <a:r>
              <a:rPr lang="de-DE" dirty="0"/>
              <a:t>Survival </a:t>
            </a:r>
            <a:r>
              <a:rPr lang="de-DE" dirty="0" err="1"/>
              <a:t>probabilities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Wt</a:t>
            </a:r>
            <a:r>
              <a:rPr lang="de-DE" dirty="0"/>
              <a:t>-population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varying</a:t>
            </a:r>
            <a:r>
              <a:rPr lang="de-DE" dirty="0"/>
              <a:t> environmental </a:t>
            </a:r>
            <a:r>
              <a:rPr lang="de-DE" dirty="0" err="1"/>
              <a:t>stochasticity</a:t>
            </a:r>
            <a:endParaRPr lang="de-DE" dirty="0"/>
          </a:p>
          <a:p>
            <a:r>
              <a:rPr lang="de-DE" dirty="0"/>
              <a:t>Survival </a:t>
            </a:r>
            <a:r>
              <a:rPr lang="de-DE" dirty="0" err="1"/>
              <a:t>probabilities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Wt</a:t>
            </a:r>
            <a:r>
              <a:rPr lang="de-DE" dirty="0"/>
              <a:t>-population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varying</a:t>
            </a:r>
            <a:r>
              <a:rPr lang="de-DE" dirty="0"/>
              <a:t> </a:t>
            </a:r>
            <a:r>
              <a:rPr lang="de-DE" dirty="0" err="1"/>
              <a:t>intrinsic</a:t>
            </a:r>
            <a:r>
              <a:rPr lang="de-DE" dirty="0"/>
              <a:t> </a:t>
            </a:r>
            <a:r>
              <a:rPr lang="de-DE" dirty="0" err="1"/>
              <a:t>fitness</a:t>
            </a:r>
            <a:r>
              <a:rPr lang="de-DE" dirty="0"/>
              <a:t> </a:t>
            </a:r>
            <a:r>
              <a:rPr lang="de-DE" dirty="0" err="1"/>
              <a:t>values</a:t>
            </a:r>
            <a:endParaRPr lang="de-DE" dirty="0"/>
          </a:p>
          <a:p>
            <a:r>
              <a:rPr lang="de-DE" dirty="0" err="1"/>
              <a:t>Estimation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population</a:t>
            </a:r>
            <a:r>
              <a:rPr lang="de-DE" dirty="0"/>
              <a:t> </a:t>
            </a:r>
            <a:r>
              <a:rPr lang="de-DE" dirty="0" err="1"/>
              <a:t>rescue</a:t>
            </a:r>
            <a:r>
              <a:rPr lang="de-DE" dirty="0"/>
              <a:t> </a:t>
            </a:r>
            <a:r>
              <a:rPr lang="de-DE" dirty="0" err="1"/>
              <a:t>depending</a:t>
            </a:r>
            <a:r>
              <a:rPr lang="de-DE" dirty="0"/>
              <a:t> on </a:t>
            </a:r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number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77511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7C40D3-F797-E287-449D-F30DA578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Methods: The </a:t>
            </a:r>
            <a:r>
              <a:rPr lang="de-DE" dirty="0" err="1"/>
              <a:t>math</a:t>
            </a:r>
            <a:r>
              <a:rPr lang="de-DE" dirty="0"/>
              <a:t> </a:t>
            </a:r>
            <a:r>
              <a:rPr lang="de-DE" dirty="0" err="1"/>
              <a:t>behind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CH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F442A40D-1D2F-F2DE-53B3-E9A2E30900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8639" y="2241309"/>
            <a:ext cx="3286584" cy="47631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2E4D191-C5E8-21F5-2BED-E6DFCDC5C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39" y="2666894"/>
            <a:ext cx="3467584" cy="76210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FD2380D-60FF-3241-6875-A0D3CB6FF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639" y="3429000"/>
            <a:ext cx="1695687" cy="48584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67204E1-8740-FA7F-8419-61DFA1F19864}"/>
              </a:ext>
            </a:extLst>
          </p:cNvPr>
          <p:cNvSpPr txBox="1"/>
          <p:nvPr/>
        </p:nvSpPr>
        <p:spPr>
          <a:xfrm>
            <a:off x="218639" y="1931607"/>
            <a:ext cx="4200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Simulation </a:t>
            </a:r>
            <a:r>
              <a:rPr lang="de-DE" dirty="0" err="1"/>
              <a:t>of</a:t>
            </a:r>
            <a:r>
              <a:rPr lang="de-DE" dirty="0"/>
              <a:t> non-</a:t>
            </a:r>
            <a:r>
              <a:rPr lang="de-DE" dirty="0" err="1"/>
              <a:t>panmictic</a:t>
            </a:r>
            <a:r>
              <a:rPr lang="de-DE" dirty="0"/>
              <a:t> </a:t>
            </a:r>
            <a:r>
              <a:rPr lang="de-DE" dirty="0" err="1"/>
              <a:t>population</a:t>
            </a:r>
            <a:r>
              <a:rPr lang="de-DE" dirty="0"/>
              <a:t>:</a:t>
            </a:r>
            <a:endParaRPr lang="de-CH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D3C4005-2544-6CE2-F8F8-CBCB5B0066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139" y="3864111"/>
            <a:ext cx="3658111" cy="55252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F3A4C63-DDCC-4408-17B2-80DD7B9AA0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1850" y="2300939"/>
            <a:ext cx="1810003" cy="990738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A03BFCA-EB2C-5D5D-7FE7-C211AAB3ED90}"/>
              </a:ext>
            </a:extLst>
          </p:cNvPr>
          <p:cNvSpPr txBox="1"/>
          <p:nvPr/>
        </p:nvSpPr>
        <p:spPr>
          <a:xfrm>
            <a:off x="4625151" y="1931607"/>
            <a:ext cx="4473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Simulation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panmictic</a:t>
            </a:r>
            <a:r>
              <a:rPr lang="de-DE" dirty="0"/>
              <a:t> diploid </a:t>
            </a:r>
            <a:r>
              <a:rPr lang="de-DE" dirty="0" err="1"/>
              <a:t>population</a:t>
            </a:r>
            <a:r>
              <a:rPr lang="de-DE" dirty="0"/>
              <a:t>:</a:t>
            </a:r>
            <a:endParaRPr lang="de-CH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6251A828-B1E4-1F05-3E8D-784FECAAA2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1850" y="3369365"/>
            <a:ext cx="2667372" cy="733527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23E8F83C-E3E3-A538-32DE-953B1709A2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1850" y="4140374"/>
            <a:ext cx="3696216" cy="581106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CE74FA96-17C5-2431-6895-F406021C91A6}"/>
              </a:ext>
            </a:extLst>
          </p:cNvPr>
          <p:cNvSpPr txBox="1"/>
          <p:nvPr/>
        </p:nvSpPr>
        <p:spPr>
          <a:xfrm>
            <a:off x="5051850" y="4721480"/>
            <a:ext cx="68651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Hardy-Weinberg Equilibrium Formula</a:t>
            </a:r>
          </a:p>
          <a:p>
            <a:endParaRPr lang="de-DE" dirty="0"/>
          </a:p>
          <a:p>
            <a:r>
              <a:rPr lang="en-US" dirty="0"/>
              <a:t>We draw random offspring via “</a:t>
            </a:r>
            <a:r>
              <a:rPr lang="en-US" dirty="0" err="1"/>
              <a:t>rmultinom</a:t>
            </a:r>
            <a:r>
              <a:rPr lang="en-US" dirty="0"/>
              <a:t>” for the next generation and simulate the diploid population over 100 generations as in the previous case.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26833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Slide Background">
            <a:extLst>
              <a:ext uri="{FF2B5EF4-FFF2-40B4-BE49-F238E27FC236}">
                <a16:creationId xmlns:a16="http://schemas.microsoft.com/office/drawing/2014/main" id="{EEDFD83B-474E-42D8-99FD-25099162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E18AC0D4-F32D-4067-9F63-E553F4AFF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3429000"/>
          </a:xfrm>
          <a:prstGeom prst="rect">
            <a:avLst/>
          </a:prstGeom>
          <a:ln>
            <a:noFill/>
          </a:ln>
          <a:effectLst>
            <a:outerShdw blurRad="444500" dist="152400" dir="5400000" sx="94000" sy="94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AFF60BA-B236-36DC-0201-E38F70082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84047"/>
            <a:ext cx="4730349" cy="2658201"/>
          </a:xfrm>
        </p:spPr>
        <p:txBody>
          <a:bodyPr anchor="ctr">
            <a:normAutofit/>
          </a:bodyPr>
          <a:lstStyle/>
          <a:p>
            <a:r>
              <a:rPr lang="de-DE" sz="4000"/>
              <a:t>Results and Interpretation</a:t>
            </a:r>
            <a:endParaRPr lang="de-CH" sz="4000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7DEF750D-8ED4-DBA1-9903-9B8D3606A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4048"/>
            <a:ext cx="5257799" cy="2658201"/>
          </a:xfrm>
        </p:spPr>
        <p:txBody>
          <a:bodyPr anchor="ctr">
            <a:normAutofit/>
          </a:bodyPr>
          <a:lstStyle/>
          <a:p>
            <a:r>
              <a:rPr lang="en-US" sz="2000" dirty="0"/>
              <a:t>Non-panmictic simulation</a:t>
            </a:r>
          </a:p>
          <a:p>
            <a:r>
              <a:rPr lang="en-US" sz="2000" dirty="0"/>
              <a:t>Wildtype almost always dies out, even after initial rebound</a:t>
            </a:r>
          </a:p>
          <a:p>
            <a:r>
              <a:rPr lang="en-US" sz="2000" dirty="0"/>
              <a:t>Wildtype populations get “replaced” by fitter mutants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3703EB8-94B2-098A-295A-C4461EC59C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1" t="4119" r="8200" b="-2"/>
          <a:stretch>
            <a:fillRect/>
          </a:stretch>
        </p:blipFill>
        <p:spPr>
          <a:xfrm>
            <a:off x="7611929" y="3487114"/>
            <a:ext cx="3946291" cy="256434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26D8F25-C3A7-521A-F816-DBB3758006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6"/>
          <a:stretch>
            <a:fillRect/>
          </a:stretch>
        </p:blipFill>
        <p:spPr>
          <a:xfrm>
            <a:off x="3876260" y="3487114"/>
            <a:ext cx="3735669" cy="247026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DABEC2D-660D-733C-C511-99E857F3E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038" y="3487114"/>
            <a:ext cx="3899298" cy="234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4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206165-5045-CE3F-5FB6-F79B0875C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r>
              <a:rPr lang="de-DE" dirty="0"/>
              <a:t> and Interpretation</a:t>
            </a:r>
            <a:endParaRPr lang="de-CH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CE4F2F2-9FE7-48B2-E74F-E15265B2FC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3539" y="1437999"/>
            <a:ext cx="5416651" cy="333278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6014200-32EB-4B16-42E3-01F6E8CA1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562" y="1527451"/>
            <a:ext cx="5002745" cy="333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65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645C12-9019-C5E2-DD6F-EAA40742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and Interpretation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7A56530-0A69-C4E5-C247-998BB47F6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30" y="2500642"/>
            <a:ext cx="5566621" cy="3660053"/>
          </a:xfrm>
          <a:prstGeom prst="rect">
            <a:avLst/>
          </a:prstGeom>
        </p:spPr>
      </p:pic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F552F7DA-0F23-7AA7-5B60-ACF1EE3A8A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170427" y="2590650"/>
            <a:ext cx="5183373" cy="331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70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F0DC38-D34E-B7E4-81EB-2FBA6CFF7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r>
              <a:rPr lang="de-DE" dirty="0"/>
              <a:t> and Interpretation</a:t>
            </a:r>
            <a:endParaRPr lang="de-CH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EED8D149-9762-9B19-320D-D944C74DB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21200" y="1825625"/>
            <a:ext cx="6749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72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Doñana">
            <a:extLst>
              <a:ext uri="{FF2B5EF4-FFF2-40B4-BE49-F238E27FC236}">
                <a16:creationId xmlns:a16="http://schemas.microsoft.com/office/drawing/2014/main" id="{06A005F9-A402-4905-CBF9-525708452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80" b="1"/>
          <a:stretch>
            <a:fillRect/>
          </a:stretch>
        </p:blipFill>
        <p:spPr bwMode="auto">
          <a:xfrm>
            <a:off x="180975" y="182880"/>
            <a:ext cx="11823637" cy="6499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BE273AA-7594-9870-8732-9E4B6AF95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195"/>
            <a:ext cx="10165218" cy="2806506"/>
          </a:xfrm>
        </p:spPr>
        <p:txBody>
          <a:bodyPr anchor="b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Limitations and Discussion</a:t>
            </a:r>
            <a:endParaRPr lang="de-CH" sz="4000">
              <a:solidFill>
                <a:srgbClr val="FFFFFF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CE1F04-DBEB-60D1-5F3B-1D88B61D1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6300"/>
            <a:ext cx="10165218" cy="2588458"/>
          </a:xfrm>
        </p:spPr>
        <p:txBody>
          <a:bodyPr>
            <a:normAutofit/>
          </a:bodyPr>
          <a:lstStyle/>
          <a:p>
            <a:r>
              <a:rPr lang="de-DE" sz="1400" dirty="0">
                <a:solidFill>
                  <a:srgbClr val="FFFFFF"/>
                </a:solidFill>
              </a:rPr>
              <a:t>Time </a:t>
            </a:r>
            <a:r>
              <a:rPr lang="de-DE" sz="1400" dirty="0" err="1">
                <a:solidFill>
                  <a:srgbClr val="FFFFFF"/>
                </a:solidFill>
              </a:rPr>
              <a:t>treated</a:t>
            </a:r>
            <a:r>
              <a:rPr lang="de-DE" sz="1400" dirty="0">
                <a:solidFill>
                  <a:srgbClr val="FFFFFF"/>
                </a:solidFill>
              </a:rPr>
              <a:t> </a:t>
            </a:r>
            <a:r>
              <a:rPr lang="de-DE" sz="1400" dirty="0" err="1">
                <a:solidFill>
                  <a:srgbClr val="FFFFFF"/>
                </a:solidFill>
              </a:rPr>
              <a:t>as</a:t>
            </a:r>
            <a:r>
              <a:rPr lang="de-DE" sz="1400" dirty="0">
                <a:solidFill>
                  <a:srgbClr val="FFFFFF"/>
                </a:solidFill>
              </a:rPr>
              <a:t> </a:t>
            </a:r>
            <a:r>
              <a:rPr lang="de-DE" sz="1400" dirty="0" err="1">
                <a:solidFill>
                  <a:srgbClr val="FFFFFF"/>
                </a:solidFill>
              </a:rPr>
              <a:t>discrete</a:t>
            </a:r>
            <a:r>
              <a:rPr lang="de-DE" sz="1400" dirty="0">
                <a:solidFill>
                  <a:srgbClr val="FFFFFF"/>
                </a:solidFill>
              </a:rPr>
              <a:t> variable</a:t>
            </a:r>
          </a:p>
          <a:p>
            <a:r>
              <a:rPr lang="de-DE" sz="1400" dirty="0">
                <a:solidFill>
                  <a:srgbClr val="FFFFFF"/>
                </a:solidFill>
              </a:rPr>
              <a:t>Non-</a:t>
            </a:r>
            <a:r>
              <a:rPr lang="de-DE" sz="1400" dirty="0" err="1">
                <a:solidFill>
                  <a:srgbClr val="FFFFFF"/>
                </a:solidFill>
              </a:rPr>
              <a:t>overlapping</a:t>
            </a:r>
            <a:r>
              <a:rPr lang="de-DE" sz="1400" dirty="0">
                <a:solidFill>
                  <a:srgbClr val="FFFFFF"/>
                </a:solidFill>
              </a:rPr>
              <a:t> </a:t>
            </a:r>
            <a:r>
              <a:rPr lang="de-DE" sz="1400" dirty="0" err="1">
                <a:solidFill>
                  <a:srgbClr val="FFFFFF"/>
                </a:solidFill>
              </a:rPr>
              <a:t>generations</a:t>
            </a:r>
            <a:endParaRPr lang="de-DE" sz="1400" dirty="0">
              <a:solidFill>
                <a:srgbClr val="FFFFFF"/>
              </a:solidFill>
            </a:endParaRPr>
          </a:p>
          <a:p>
            <a:r>
              <a:rPr lang="de-DE" sz="1400" dirty="0">
                <a:solidFill>
                  <a:srgbClr val="FFFFFF"/>
                </a:solidFill>
              </a:rPr>
              <a:t>Fitness </a:t>
            </a:r>
            <a:r>
              <a:rPr lang="de-DE" sz="1400" dirty="0" err="1">
                <a:solidFill>
                  <a:srgbClr val="FFFFFF"/>
                </a:solidFill>
              </a:rPr>
              <a:t>linked</a:t>
            </a:r>
            <a:r>
              <a:rPr lang="de-DE" sz="1400" dirty="0">
                <a:solidFill>
                  <a:srgbClr val="FFFFFF"/>
                </a:solidFill>
              </a:rPr>
              <a:t> </a:t>
            </a:r>
            <a:r>
              <a:rPr lang="de-DE" sz="1400" dirty="0" err="1">
                <a:solidFill>
                  <a:srgbClr val="FFFFFF"/>
                </a:solidFill>
              </a:rPr>
              <a:t>to</a:t>
            </a:r>
            <a:r>
              <a:rPr lang="de-DE" sz="1400" dirty="0">
                <a:solidFill>
                  <a:srgbClr val="FFFFFF"/>
                </a:solidFill>
              </a:rPr>
              <a:t> a </a:t>
            </a:r>
            <a:r>
              <a:rPr lang="de-DE" sz="1400" dirty="0" err="1">
                <a:solidFill>
                  <a:srgbClr val="FFFFFF"/>
                </a:solidFill>
              </a:rPr>
              <a:t>single</a:t>
            </a:r>
            <a:r>
              <a:rPr lang="de-DE" sz="1400" dirty="0">
                <a:solidFill>
                  <a:srgbClr val="FFFFFF"/>
                </a:solidFill>
              </a:rPr>
              <a:t> </a:t>
            </a:r>
            <a:r>
              <a:rPr lang="de-DE" sz="1400" dirty="0" err="1">
                <a:solidFill>
                  <a:srgbClr val="FFFFFF"/>
                </a:solidFill>
              </a:rPr>
              <a:t>locus</a:t>
            </a:r>
            <a:endParaRPr lang="de-DE" sz="1400" dirty="0">
              <a:solidFill>
                <a:srgbClr val="FFFFFF"/>
              </a:solidFill>
            </a:endParaRPr>
          </a:p>
          <a:p>
            <a:r>
              <a:rPr lang="de-DE" sz="1400" dirty="0" err="1">
                <a:solidFill>
                  <a:srgbClr val="FFFFFF"/>
                </a:solidFill>
              </a:rPr>
              <a:t>Populations</a:t>
            </a:r>
            <a:r>
              <a:rPr lang="de-DE" sz="1400" dirty="0">
                <a:solidFill>
                  <a:srgbClr val="FFFFFF"/>
                </a:solidFill>
              </a:rPr>
              <a:t> do not </a:t>
            </a:r>
            <a:r>
              <a:rPr lang="de-DE" sz="1400" dirty="0" err="1">
                <a:solidFill>
                  <a:srgbClr val="FFFFFF"/>
                </a:solidFill>
              </a:rPr>
              <a:t>approach</a:t>
            </a:r>
            <a:r>
              <a:rPr lang="de-DE" sz="1400" dirty="0">
                <a:solidFill>
                  <a:srgbClr val="FFFFFF"/>
                </a:solidFill>
              </a:rPr>
              <a:t> K </a:t>
            </a:r>
          </a:p>
          <a:p>
            <a:r>
              <a:rPr lang="de-DE" sz="1400" dirty="0" err="1">
                <a:solidFill>
                  <a:srgbClr val="FFFFFF"/>
                </a:solidFill>
              </a:rPr>
              <a:t>Closed</a:t>
            </a:r>
            <a:r>
              <a:rPr lang="de-DE" sz="1400" dirty="0">
                <a:solidFill>
                  <a:srgbClr val="FFFFFF"/>
                </a:solidFill>
              </a:rPr>
              <a:t> </a:t>
            </a:r>
            <a:r>
              <a:rPr lang="de-DE" sz="1400" dirty="0" err="1">
                <a:solidFill>
                  <a:srgbClr val="FFFFFF"/>
                </a:solidFill>
              </a:rPr>
              <a:t>population</a:t>
            </a:r>
            <a:r>
              <a:rPr lang="de-DE" sz="1400" dirty="0">
                <a:solidFill>
                  <a:srgbClr val="FFFFFF"/>
                </a:solidFill>
              </a:rPr>
              <a:t> </a:t>
            </a:r>
            <a:r>
              <a:rPr lang="de-DE" sz="1400" dirty="0" err="1">
                <a:solidFill>
                  <a:srgbClr val="FFFFFF"/>
                </a:solidFill>
              </a:rPr>
              <a:t>dynamics</a:t>
            </a:r>
            <a:endParaRPr lang="de-DE" sz="1400" dirty="0">
              <a:solidFill>
                <a:srgbClr val="FFFFFF"/>
              </a:solidFill>
            </a:endParaRPr>
          </a:p>
          <a:p>
            <a:r>
              <a:rPr lang="de-DE" sz="1400" dirty="0" err="1">
                <a:solidFill>
                  <a:srgbClr val="FFFFFF"/>
                </a:solidFill>
              </a:rPr>
              <a:t>No</a:t>
            </a:r>
            <a:r>
              <a:rPr lang="de-DE" sz="1400" dirty="0">
                <a:solidFill>
                  <a:srgbClr val="FFFFFF"/>
                </a:solidFill>
              </a:rPr>
              <a:t> source-sink </a:t>
            </a:r>
            <a:r>
              <a:rPr lang="de-DE" sz="1400" dirty="0" err="1">
                <a:solidFill>
                  <a:srgbClr val="FFFFFF"/>
                </a:solidFill>
              </a:rPr>
              <a:t>population</a:t>
            </a:r>
            <a:r>
              <a:rPr lang="de-DE" sz="1400" dirty="0">
                <a:solidFill>
                  <a:srgbClr val="FFFFFF"/>
                </a:solidFill>
              </a:rPr>
              <a:t> </a:t>
            </a:r>
            <a:r>
              <a:rPr lang="de-DE" sz="1400" dirty="0" err="1">
                <a:solidFill>
                  <a:srgbClr val="FFFFFF"/>
                </a:solidFill>
              </a:rPr>
              <a:t>dynamics</a:t>
            </a:r>
            <a:endParaRPr lang="de-DE" sz="1400" dirty="0">
              <a:solidFill>
                <a:srgbClr val="FFFFFF"/>
              </a:solidFill>
            </a:endParaRPr>
          </a:p>
          <a:p>
            <a:r>
              <a:rPr lang="de-DE" sz="1400" dirty="0" err="1">
                <a:solidFill>
                  <a:srgbClr val="FFFFFF"/>
                </a:solidFill>
              </a:rPr>
              <a:t>No</a:t>
            </a:r>
            <a:r>
              <a:rPr lang="de-DE" sz="1400" dirty="0">
                <a:solidFill>
                  <a:srgbClr val="FFFFFF"/>
                </a:solidFill>
              </a:rPr>
              <a:t> </a:t>
            </a:r>
            <a:r>
              <a:rPr lang="de-DE" sz="1400" dirty="0" err="1">
                <a:solidFill>
                  <a:srgbClr val="FFFFFF"/>
                </a:solidFill>
              </a:rPr>
              <a:t>age</a:t>
            </a:r>
            <a:r>
              <a:rPr lang="de-DE" sz="1400" dirty="0">
                <a:solidFill>
                  <a:srgbClr val="FFFFFF"/>
                </a:solidFill>
              </a:rPr>
              <a:t>-stage </a:t>
            </a:r>
            <a:r>
              <a:rPr lang="de-DE" sz="1400" dirty="0" err="1">
                <a:solidFill>
                  <a:srgbClr val="FFFFFF"/>
                </a:solidFill>
              </a:rPr>
              <a:t>structured</a:t>
            </a:r>
            <a:r>
              <a:rPr lang="de-DE" sz="1400" dirty="0">
                <a:solidFill>
                  <a:srgbClr val="FFFFFF"/>
                </a:solidFill>
              </a:rPr>
              <a:t> </a:t>
            </a:r>
            <a:r>
              <a:rPr lang="de-DE" sz="1400" dirty="0" err="1">
                <a:solidFill>
                  <a:srgbClr val="FFFFFF"/>
                </a:solidFill>
              </a:rPr>
              <a:t>populations</a:t>
            </a:r>
            <a:endParaRPr lang="de-DE" sz="1400" dirty="0">
              <a:solidFill>
                <a:srgbClr val="FFFFFF"/>
              </a:solidFill>
            </a:endParaRPr>
          </a:p>
          <a:p>
            <a:r>
              <a:rPr lang="de-DE" sz="1400" dirty="0" err="1">
                <a:solidFill>
                  <a:srgbClr val="FFFFFF"/>
                </a:solidFill>
              </a:rPr>
              <a:t>No</a:t>
            </a:r>
            <a:r>
              <a:rPr lang="de-DE" sz="1400" dirty="0">
                <a:solidFill>
                  <a:srgbClr val="FFFFFF"/>
                </a:solidFill>
              </a:rPr>
              <a:t> „</a:t>
            </a:r>
            <a:r>
              <a:rPr lang="de-DE" sz="1400" dirty="0" err="1">
                <a:solidFill>
                  <a:srgbClr val="FFFFFF"/>
                </a:solidFill>
              </a:rPr>
              <a:t>mutation</a:t>
            </a:r>
            <a:r>
              <a:rPr lang="de-DE" sz="1400" dirty="0">
                <a:solidFill>
                  <a:srgbClr val="FFFFFF"/>
                </a:solidFill>
              </a:rPr>
              <a:t> </a:t>
            </a:r>
            <a:r>
              <a:rPr lang="de-DE" sz="1400" dirty="0" err="1">
                <a:solidFill>
                  <a:srgbClr val="FFFFFF"/>
                </a:solidFill>
              </a:rPr>
              <a:t>rates</a:t>
            </a:r>
            <a:r>
              <a:rPr lang="de-DE" sz="1400" dirty="0">
                <a:solidFill>
                  <a:srgbClr val="FFFFFF"/>
                </a:solidFill>
              </a:rPr>
              <a:t>“ </a:t>
            </a:r>
            <a:r>
              <a:rPr lang="de-DE" sz="1400" dirty="0" err="1">
                <a:solidFill>
                  <a:srgbClr val="FFFFFF"/>
                </a:solidFill>
              </a:rPr>
              <a:t>or</a:t>
            </a:r>
            <a:r>
              <a:rPr lang="de-DE" sz="1400" dirty="0">
                <a:solidFill>
                  <a:srgbClr val="FFFFFF"/>
                </a:solidFill>
              </a:rPr>
              <a:t> </a:t>
            </a:r>
            <a:r>
              <a:rPr lang="de-DE" sz="1400" dirty="0" err="1">
                <a:solidFill>
                  <a:srgbClr val="FFFFFF"/>
                </a:solidFill>
              </a:rPr>
              <a:t>other</a:t>
            </a:r>
            <a:r>
              <a:rPr lang="de-DE" sz="1400" dirty="0">
                <a:solidFill>
                  <a:srgbClr val="FFFFFF"/>
                </a:solidFill>
              </a:rPr>
              <a:t> </a:t>
            </a:r>
            <a:r>
              <a:rPr lang="de-DE" sz="1400" dirty="0" err="1">
                <a:solidFill>
                  <a:srgbClr val="FFFFFF"/>
                </a:solidFill>
              </a:rPr>
              <a:t>demographic</a:t>
            </a:r>
            <a:r>
              <a:rPr lang="de-DE" sz="1400" dirty="0">
                <a:solidFill>
                  <a:srgbClr val="FFFFFF"/>
                </a:solidFill>
              </a:rPr>
              <a:t> </a:t>
            </a:r>
            <a:r>
              <a:rPr lang="de-DE" sz="1400" dirty="0" err="1">
                <a:solidFill>
                  <a:srgbClr val="FFFFFF"/>
                </a:solidFill>
              </a:rPr>
              <a:t>aspects</a:t>
            </a:r>
            <a:endParaRPr lang="de-CH" sz="1400" dirty="0">
              <a:solidFill>
                <a:srgbClr val="FFFFFF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98071B8-556B-28E7-4D75-440339D56FCB}"/>
              </a:ext>
            </a:extLst>
          </p:cNvPr>
          <p:cNvSpPr txBox="1"/>
          <p:nvPr/>
        </p:nvSpPr>
        <p:spPr>
          <a:xfrm>
            <a:off x="838200" y="6305788"/>
            <a:ext cx="8686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i="1" dirty="0">
                <a:solidFill>
                  <a:schemeClr val="bg2">
                    <a:lumMod val="90000"/>
                  </a:schemeClr>
                </a:solidFill>
              </a:rPr>
              <a:t>Picture source: </a:t>
            </a:r>
            <a:r>
              <a:rPr lang="de-DE" sz="1400" i="1" dirty="0" err="1">
                <a:solidFill>
                  <a:schemeClr val="bg2">
                    <a:lumMod val="90000"/>
                  </a:schemeClr>
                </a:solidFill>
              </a:rPr>
              <a:t>Parque</a:t>
            </a:r>
            <a:r>
              <a:rPr lang="de-DE" sz="1400" i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de-DE" sz="1400" i="1" dirty="0" err="1">
                <a:solidFill>
                  <a:schemeClr val="bg2">
                    <a:lumMod val="90000"/>
                  </a:schemeClr>
                </a:solidFill>
              </a:rPr>
              <a:t>nacional</a:t>
            </a:r>
            <a:r>
              <a:rPr lang="de-DE" sz="1400" i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de-DE" sz="1400" i="1" dirty="0" err="1">
                <a:solidFill>
                  <a:schemeClr val="bg2">
                    <a:lumMod val="90000"/>
                  </a:schemeClr>
                </a:solidFill>
              </a:rPr>
              <a:t>coto</a:t>
            </a:r>
            <a:r>
              <a:rPr lang="de-DE" sz="1400" i="1" dirty="0">
                <a:solidFill>
                  <a:schemeClr val="bg2">
                    <a:lumMod val="90000"/>
                  </a:schemeClr>
                </a:solidFill>
              </a:rPr>
              <a:t> de </a:t>
            </a:r>
            <a:r>
              <a:rPr lang="de-DE" sz="1400" i="1" dirty="0" err="1">
                <a:solidFill>
                  <a:schemeClr val="bg2">
                    <a:lumMod val="90000"/>
                  </a:schemeClr>
                </a:solidFill>
              </a:rPr>
              <a:t>doñana</a:t>
            </a:r>
            <a:r>
              <a:rPr lang="de-DE" sz="1400" i="1" dirty="0">
                <a:solidFill>
                  <a:schemeClr val="bg2">
                    <a:lumMod val="90000"/>
                  </a:schemeClr>
                </a:solidFill>
              </a:rPr>
              <a:t> https://www.andalucia.org/listing/do%C3%B1ana/15455102/</a:t>
            </a:r>
            <a:endParaRPr lang="de-CH" sz="1400" i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258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82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2" name="Rectangle 3084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8" name="Picture 6" descr="A European success story of recovery and survival for the Iberian lynx. –  Mammal Watching">
            <a:extLst>
              <a:ext uri="{FF2B5EF4-FFF2-40B4-BE49-F238E27FC236}">
                <a16:creationId xmlns:a16="http://schemas.microsoft.com/office/drawing/2014/main" id="{A46CF40C-09DD-9844-8B72-C1F4E372C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44"/>
          <a:stretch>
            <a:fillRect/>
          </a:stretch>
        </p:blipFill>
        <p:spPr bwMode="auto">
          <a:xfrm>
            <a:off x="180975" y="182880"/>
            <a:ext cx="11823637" cy="6499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CA67FA4-DBFF-39C1-47D6-DCEE7CD04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195"/>
            <a:ext cx="10165218" cy="2806506"/>
          </a:xfrm>
        </p:spPr>
        <p:txBody>
          <a:bodyPr anchor="b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Possible (hypothetical) Next Steps</a:t>
            </a:r>
            <a:endParaRPr lang="de-CH" sz="4000">
              <a:solidFill>
                <a:srgbClr val="FFFFFF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D05013-667C-C267-29B6-FB415314C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6300"/>
            <a:ext cx="10165218" cy="2588458"/>
          </a:xfrm>
        </p:spPr>
        <p:txBody>
          <a:bodyPr>
            <a:normAutofit/>
          </a:bodyPr>
          <a:lstStyle/>
          <a:p>
            <a:r>
              <a:rPr lang="de-DE" sz="2000" dirty="0">
                <a:solidFill>
                  <a:srgbClr val="FFFFFF"/>
                </a:solidFill>
              </a:rPr>
              <a:t>Include </a:t>
            </a:r>
            <a:r>
              <a:rPr lang="de-DE" sz="2000" dirty="0" err="1">
                <a:solidFill>
                  <a:srgbClr val="FFFFFF"/>
                </a:solidFill>
              </a:rPr>
              <a:t>age</a:t>
            </a:r>
            <a:r>
              <a:rPr lang="de-DE" sz="2000" dirty="0">
                <a:solidFill>
                  <a:srgbClr val="FFFFFF"/>
                </a:solidFill>
              </a:rPr>
              <a:t>- </a:t>
            </a:r>
            <a:r>
              <a:rPr lang="de-DE" sz="2000" dirty="0" err="1">
                <a:solidFill>
                  <a:srgbClr val="FFFFFF"/>
                </a:solidFill>
              </a:rPr>
              <a:t>or</a:t>
            </a:r>
            <a:r>
              <a:rPr lang="de-DE" sz="2000" dirty="0">
                <a:solidFill>
                  <a:srgbClr val="FFFFFF"/>
                </a:solidFill>
              </a:rPr>
              <a:t> </a:t>
            </a:r>
            <a:r>
              <a:rPr lang="de-DE" sz="2000" dirty="0" err="1">
                <a:solidFill>
                  <a:srgbClr val="FFFFFF"/>
                </a:solidFill>
              </a:rPr>
              <a:t>stage</a:t>
            </a:r>
            <a:r>
              <a:rPr lang="de-DE" sz="2000" dirty="0">
                <a:solidFill>
                  <a:srgbClr val="FFFFFF"/>
                </a:solidFill>
              </a:rPr>
              <a:t> </a:t>
            </a:r>
            <a:r>
              <a:rPr lang="de-DE" sz="2000" dirty="0" err="1">
                <a:solidFill>
                  <a:srgbClr val="FFFFFF"/>
                </a:solidFill>
              </a:rPr>
              <a:t>structures</a:t>
            </a:r>
            <a:endParaRPr lang="de-DE" sz="2000" dirty="0">
              <a:solidFill>
                <a:srgbClr val="FFFFFF"/>
              </a:solidFill>
            </a:endParaRPr>
          </a:p>
          <a:p>
            <a:r>
              <a:rPr lang="de-DE" sz="2000" dirty="0" err="1">
                <a:solidFill>
                  <a:srgbClr val="FFFFFF"/>
                </a:solidFill>
              </a:rPr>
              <a:t>Incorporate</a:t>
            </a:r>
            <a:r>
              <a:rPr lang="de-DE" sz="2000" dirty="0">
                <a:solidFill>
                  <a:srgbClr val="FFFFFF"/>
                </a:solidFill>
              </a:rPr>
              <a:t> </a:t>
            </a:r>
            <a:r>
              <a:rPr lang="de-DE" sz="2000" dirty="0" err="1">
                <a:solidFill>
                  <a:srgbClr val="FFFFFF"/>
                </a:solidFill>
              </a:rPr>
              <a:t>further</a:t>
            </a:r>
            <a:r>
              <a:rPr lang="de-DE" sz="2000" dirty="0">
                <a:solidFill>
                  <a:srgbClr val="FFFFFF"/>
                </a:solidFill>
              </a:rPr>
              <a:t> </a:t>
            </a:r>
            <a:r>
              <a:rPr lang="de-DE" sz="2000" dirty="0" err="1">
                <a:solidFill>
                  <a:srgbClr val="FFFFFF"/>
                </a:solidFill>
              </a:rPr>
              <a:t>demographic</a:t>
            </a:r>
            <a:r>
              <a:rPr lang="de-DE" sz="2000" dirty="0">
                <a:solidFill>
                  <a:srgbClr val="FFFFFF"/>
                </a:solidFill>
              </a:rPr>
              <a:t> </a:t>
            </a:r>
            <a:r>
              <a:rPr lang="de-DE" sz="2000" dirty="0" err="1">
                <a:solidFill>
                  <a:srgbClr val="FFFFFF"/>
                </a:solidFill>
              </a:rPr>
              <a:t>rates</a:t>
            </a:r>
            <a:endParaRPr lang="de-DE" sz="2000" dirty="0">
              <a:solidFill>
                <a:srgbClr val="FFFFFF"/>
              </a:solidFill>
            </a:endParaRPr>
          </a:p>
          <a:p>
            <a:r>
              <a:rPr lang="de-DE" sz="2000" dirty="0" err="1">
                <a:solidFill>
                  <a:srgbClr val="FFFFFF"/>
                </a:solidFill>
              </a:rPr>
              <a:t>Overlapping</a:t>
            </a:r>
            <a:r>
              <a:rPr lang="de-DE" sz="2000" dirty="0">
                <a:solidFill>
                  <a:srgbClr val="FFFFFF"/>
                </a:solidFill>
              </a:rPr>
              <a:t> </a:t>
            </a:r>
            <a:r>
              <a:rPr lang="de-DE" sz="2000" dirty="0" err="1">
                <a:solidFill>
                  <a:srgbClr val="FFFFFF"/>
                </a:solidFill>
              </a:rPr>
              <a:t>generations</a:t>
            </a:r>
            <a:endParaRPr lang="de-DE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de-CH" sz="2000" dirty="0">
              <a:solidFill>
                <a:srgbClr val="FFFFFF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8E549BF-65EA-C735-148D-FA4E43461803}"/>
              </a:ext>
            </a:extLst>
          </p:cNvPr>
          <p:cNvSpPr txBox="1"/>
          <p:nvPr/>
        </p:nvSpPr>
        <p:spPr>
          <a:xfrm>
            <a:off x="838200" y="6285601"/>
            <a:ext cx="111949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90000"/>
                  </a:schemeClr>
                </a:solidFill>
              </a:rPr>
              <a:t>Picture source: https://www.mammalwatching.com/community-post/a-european-success-story-of-recovery-and-survival-for-the-iberian-lynx/</a:t>
            </a:r>
            <a:endParaRPr lang="de-CH" sz="14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249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FE0DA72AB089C4796EA94CBA8D9ED9F" ma:contentTypeVersion="12" ma:contentTypeDescription="Ein neues Dokument erstellen." ma:contentTypeScope="" ma:versionID="67d21601eea1373f7d9647c1fba4bda9">
  <xsd:schema xmlns:xsd="http://www.w3.org/2001/XMLSchema" xmlns:xs="http://www.w3.org/2001/XMLSchema" xmlns:p="http://schemas.microsoft.com/office/2006/metadata/properties" xmlns:ns3="064a69a9-1863-44f9-8a6f-0d69fe8c8c47" xmlns:ns4="aa132551-e24c-40c8-bd73-85a7ffeafe21" targetNamespace="http://schemas.microsoft.com/office/2006/metadata/properties" ma:root="true" ma:fieldsID="5ef69f2aaba37af5e6b6e3797638b0c4" ns3:_="" ns4:_="">
    <xsd:import namespace="064a69a9-1863-44f9-8a6f-0d69fe8c8c47"/>
    <xsd:import namespace="aa132551-e24c-40c8-bd73-85a7ffeafe2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4a69a9-1863-44f9-8a6f-0d69fe8c8c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132551-e24c-40c8-bd73-85a7ffeafe21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64a69a9-1863-44f9-8a6f-0d69fe8c8c47" xsi:nil="true"/>
  </documentManagement>
</p:properties>
</file>

<file path=customXml/itemProps1.xml><?xml version="1.0" encoding="utf-8"?>
<ds:datastoreItem xmlns:ds="http://schemas.openxmlformats.org/officeDocument/2006/customXml" ds:itemID="{35561EBE-55D6-4A16-8FAE-07FDF78060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4a69a9-1863-44f9-8a6f-0d69fe8c8c47"/>
    <ds:schemaRef ds:uri="aa132551-e24c-40c8-bd73-85a7ffeafe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E92C47-5EC1-4A5A-A1B4-C6179F829E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51CEEB-8433-4FB1-8102-ECD7656341D7}">
  <ds:schemaRefs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aa132551-e24c-40c8-bd73-85a7ffeafe21"/>
    <ds:schemaRef ds:uri="064a69a9-1863-44f9-8a6f-0d69fe8c8c47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1686</Words>
  <Application>Microsoft Office PowerPoint</Application>
  <PresentationFormat>Breitbild</PresentationFormat>
  <Paragraphs>186</Paragraphs>
  <Slides>15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</vt:lpstr>
      <vt:lpstr>Evolutionary Rescue in Conservation: A Theoretical Model inspired by the Iberian Lynx (Lynx pardinus) </vt:lpstr>
      <vt:lpstr>Contents</vt:lpstr>
      <vt:lpstr>Life Cycle (non-panmictic)</vt:lpstr>
      <vt:lpstr>Life Cycle (panmictic, diploid) </vt:lpstr>
      <vt:lpstr>What is this model about?</vt:lpstr>
      <vt:lpstr>Why is this an interesting model?</vt:lpstr>
      <vt:lpstr>Model Parameters and Values</vt:lpstr>
      <vt:lpstr>Methods</vt:lpstr>
      <vt:lpstr>Methods: The math behind the model</vt:lpstr>
      <vt:lpstr>Results and Interpretation</vt:lpstr>
      <vt:lpstr>Results and Interpretation</vt:lpstr>
      <vt:lpstr>Results and Interpretation</vt:lpstr>
      <vt:lpstr>Results and Interpretation</vt:lpstr>
      <vt:lpstr>Limitations and Discussion</vt:lpstr>
      <vt:lpstr>Possible (hypothetical)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Vogt, Damian (STUDENTS)</dc:creator>
  <cp:lastModifiedBy>Vogt, Damian (STUDENTS)</cp:lastModifiedBy>
  <cp:revision>2</cp:revision>
  <dcterms:created xsi:type="dcterms:W3CDTF">2025-11-21T10:59:10Z</dcterms:created>
  <dcterms:modified xsi:type="dcterms:W3CDTF">2025-12-01T13:23:53Z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0x0101003FE0DA72AB089C4796EA94CBA8D9ED9F</vt:lpwstr>
  </property>
</Properties>
</file>